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5" r:id="rId5"/>
    <p:sldId id="259" r:id="rId6"/>
    <p:sldId id="276" r:id="rId7"/>
    <p:sldId id="277" r:id="rId8"/>
    <p:sldId id="267" r:id="rId9"/>
    <p:sldId id="275" r:id="rId10"/>
    <p:sldId id="268" r:id="rId11"/>
    <p:sldId id="278" r:id="rId12"/>
    <p:sldId id="279" r:id="rId13"/>
    <p:sldId id="269" r:id="rId14"/>
    <p:sldId id="270" r:id="rId15"/>
    <p:sldId id="271" r:id="rId16"/>
    <p:sldId id="272" r:id="rId17"/>
    <p:sldId id="273" r:id="rId18"/>
    <p:sldId id="274" r:id="rId19"/>
    <p:sldId id="264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A9119-8600-41C0-9D23-A09797EEA13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126A5-C552-4B90-A95D-802E5060E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52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126A5-C552-4B90-A95D-802E5060EB3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416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6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F860-9A4F-A739-3894-FFFD4D760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36C8E-C388-DF87-EE37-CD35079AF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23D7-4A43-287A-E802-F462B9D6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5850-708A-BC00-73F9-B3A04E9C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5084-8D0D-3938-8EF3-82961716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55B-81BD-5F75-AF3E-FC60E43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50F-313F-F850-7761-E9845697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7F43-397F-4BD7-1315-C6BC2BDA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4C40-4095-2F24-F259-46E8E0CC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E44F-992A-8414-6120-C2D6F0E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75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FF2-AB84-9BFF-B9FB-75EDBACF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BD665-C9F0-C0CB-FD83-58D82EEB0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7FA41-3586-1383-A515-0E75E29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64F0-E8A3-E4CD-53B1-3FA0B261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41AB-F385-A334-4A9E-5A963AD8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6F4-BEAA-9993-A83B-44B6867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61B3-E8EC-1D65-A742-3E1E08BB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54131-57F3-1C42-2130-768F959D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8877-4367-622A-3208-CABE98F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2CD75-9622-2B2D-AA66-D19EAD53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245C-35BB-68C9-BCFA-2C9A5C9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DE10-806C-907C-7430-E358ED06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441B-D9A5-0866-46E4-00BF73CB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710B-6A5A-F6B5-FE2F-5D40AD1C2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7035A-F231-2DE6-25EA-AF87B596F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D18A0-27A2-FED4-A218-7B0A6B15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19596-FD3E-FB50-E40F-65B4892A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5FA87-151F-64E8-FD65-E9D7BF05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FD60A-11FF-FAF5-7B1E-4D87C891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4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0DE5-26B5-86E6-C95A-DBAD3B08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837F-2029-4213-DFB6-06681D1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3D2DF-E69D-E6E8-8A6D-2DD0903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0085D-05D8-CCF2-E1CC-A458771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9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75B02-6C70-4B9F-9A37-084793F5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6A383-F641-4A35-8BFD-5B852303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A0ED3-8284-6536-B3F0-DD0888D8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B58B-2C7D-7E8E-9544-111AB964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196D-020E-D8E7-4736-6A55E1C8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549AA-ED67-A21A-0FC3-E4D8A0890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3A13-6704-A573-A354-DE5D1129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ECA55-7393-6137-D922-836DB917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702CF-081A-2904-FF4D-1D356B31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B1B1-04FA-BA97-ECF3-61DC65F6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9CD45-DF68-C3A7-BD38-85F9475A8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FBEC8-520C-F3D8-32A4-F28A1F786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23C3C-D233-ADAB-3F5E-E6454E21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CA25-313A-AF8C-21AA-138D164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6AF0-DC1A-B8F8-6270-A0E813ED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C084-6F32-171F-D9C3-7CA541F0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6EB3-00FF-1C3A-C216-0C897611D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BBC5-EF81-5A65-FB85-4B780ED4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3B67-C9BE-100D-FFDF-EFAB37A6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E983-F95C-E165-8104-5A0DEA8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7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A19F7-6182-36C3-E8A3-4EB194F83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8814-E165-CD1C-29F0-6E790C73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7670-9EAD-345D-E528-1DC2E201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1160-5BD2-9A1A-672F-408A7CA5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EA2FB-723E-4243-EE93-2068E73D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9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7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0000" y="1907933"/>
            <a:ext cx="10272000" cy="42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92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C6CFD-5814-9ED2-2B86-FB0EFC19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C0D5-8BE2-6BE9-7867-7896523C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8E352-CF57-5519-65F6-A40208BAD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5BFA5-9814-9D77-9580-804B22957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8CBE-BD77-44C6-20FA-5A465825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5.00525?utm_source=chatgpt.com" TargetMode="External"/><Relationship Id="rId3" Type="http://schemas.openxmlformats.org/officeDocument/2006/relationships/hyperlink" Target="https://arxiv.org/abs/2502.10703" TargetMode="External"/><Relationship Id="rId7" Type="http://schemas.openxmlformats.org/officeDocument/2006/relationships/hyperlink" Target="https://arxiv.org/abs/2505.0052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rxiv.org/abs/2506.17596?utm_source=chatgpt.com" TargetMode="External"/><Relationship Id="rId5" Type="http://schemas.openxmlformats.org/officeDocument/2006/relationships/hyperlink" Target="https://arxiv.org/abs/2506.17596" TargetMode="External"/><Relationship Id="rId10" Type="http://schemas.openxmlformats.org/officeDocument/2006/relationships/hyperlink" Target="https://arxiv.org/abs/2406.14856?utm_source=chatgpt.com" TargetMode="External"/><Relationship Id="rId4" Type="http://schemas.openxmlformats.org/officeDocument/2006/relationships/hyperlink" Target="https://arxiv.org/abs/2502.10703?utm_source=chatgpt.com" TargetMode="External"/><Relationship Id="rId9" Type="http://schemas.openxmlformats.org/officeDocument/2006/relationships/hyperlink" Target="https://arxiv.org/abs/2406.14856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7360" y="335001"/>
            <a:ext cx="11666291" cy="201600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Senior Design Project </a:t>
            </a:r>
            <a:r>
              <a:rPr lang="en-US" sz="3733" b="1" cap="all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eview</a:t>
            </a:r>
            <a:br>
              <a:rPr sz="1467" dirty="0">
                <a:latin typeface="Bebas Neue"/>
              </a:rPr>
            </a:br>
            <a:r>
              <a:rPr lang="en-US" sz="1467" dirty="0">
                <a:latin typeface="Bebas Neue"/>
              </a:rPr>
              <a:t>			</a:t>
            </a:r>
          </a:p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8A0000"/>
                </a:solidFill>
              </a:rPr>
              <a:t>Parkinson’s Detection Using Handwriting and Speech</a:t>
            </a:r>
            <a:endParaRPr lang="en-US" sz="3733" b="1" spc="-1" dirty="0">
              <a:solidFill>
                <a:srgbClr val="8A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347558" y="2376521"/>
            <a:ext cx="3210843" cy="863640"/>
          </a:xfrm>
          <a:prstGeom prst="rect">
            <a:avLst/>
          </a:prstGeom>
          <a:noFill/>
          <a:ln>
            <a:noFill/>
          </a:ln>
        </p:spPr>
        <p:txBody>
          <a:bodyPr lIns="120000" tIns="0" rIns="120000" bIns="60000">
            <a:normAutofit fontScale="94000"/>
          </a:bodyPr>
          <a:lstStyle/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SDP ID:</a:t>
            </a:r>
            <a:r>
              <a:rPr lang="en-IN" sz="2400" b="1" dirty="0">
                <a:solidFill>
                  <a:srgbClr val="FF0000"/>
                </a:solidFill>
              </a:rPr>
              <a:t> 20250854</a:t>
            </a:r>
            <a:endParaRPr lang="en-IN" sz="2400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11259" y="2808341"/>
            <a:ext cx="4896544" cy="33635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r>
              <a:rPr lang="en-IN" sz="18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endParaRPr lang="en-IN" sz="1867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18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of the Student(s) with Regd. No.:</a:t>
            </a: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Tanguturi Venkata Thanuj (22BCE20003)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 Krishna Chaitanya (22BCE7359)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Pathakuntla Narendar Reddy (22BCE7707)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IN" sz="20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440150" y="5585003"/>
            <a:ext cx="5163893" cy="12702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6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VIT-AP University,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Amravati, India</a:t>
            </a:r>
            <a:endParaRPr lang="en-IN" sz="2133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600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207360" y="-144360"/>
            <a:ext cx="40608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0FE66-D837-8A32-CA26-C63B350C9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04" y="7668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205574" y="233053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81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267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en-US" sz="4267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  <a:t> Outline</a:t>
            </a:r>
            <a:br>
              <a:rPr sz="2400" dirty="0">
                <a:latin typeface="Times New Roman" pitchFamily="18" charset="0"/>
                <a:cs typeface="Times New Roman" pitchFamily="18" charset="0"/>
              </a:rPr>
            </a:br>
            <a:endParaRPr lang="en-US" sz="5733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79957" y="804373"/>
            <a:ext cx="11339739" cy="57401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and Problem Statement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Work/ Literature Review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/ Literature Survey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Identified / Improvements Over Existing Solutions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/Workflow Diagram /Model Diagram /Block Diagram/UML diagrams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Components/Features/Modules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Used/Technologies, Frameworks, and Tools Used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( Findings, Limitations, Future Directions )</a:t>
            </a:r>
          </a:p>
          <a:p>
            <a:pPr marL="491388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65B10-025F-38FB-D40D-A8B640C93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43339" y="-123395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239349" y="836712"/>
            <a:ext cx="11339739" cy="525928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16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IN" sz="2000" dirty="0"/>
              <a:t>Parkinson’s Disease (PD) is a progressive neurodegenerative disorder where significant neuronal damage occurs before visible symptoms appear, making early detection essential. This project proposes a multimodal deep learning framework that combines handwriting and speech biomarkers for non-invasive PD screening. Using EfficientNet-B0, XLS-R 300M, and a novel Cross-Modal Attention Fusion Network (CMAFN), the system achieves 96.94% accuracy and 0.9995 AUC-ROC, while supporting real-time clinical screening through a Flask-based web application.</a:t>
            </a: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15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/>
              <a:t>Traditional Parkinson’s Disease diagnosis depends on subjective clinical assessments such as UPDRS and expensive neuroimaging techniques like </a:t>
            </a:r>
            <a:r>
              <a:rPr lang="en-US" sz="2000" dirty="0" err="1"/>
              <a:t>DaTSCAN</a:t>
            </a:r>
            <a:r>
              <a:rPr lang="en-US" sz="2000" dirty="0"/>
              <a:t>, which are costly, clinician-dependent, and often detect the disease only at later stages. Therefore, there is a strong need for an automated, low-cost, and non-invasive screening system that can identify early Parkinson’s biomarkers from simple handwriting drawings and short speech recordings.</a:t>
            </a:r>
            <a:endParaRPr lang="en-US" sz="2000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78CB6-DE7A-C21F-2E51-769B34EEC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24187" y="-152800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145221" y="836712"/>
            <a:ext cx="11339739" cy="546868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15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Need for Early Detection</a:t>
            </a:r>
            <a:br>
              <a:rPr lang="en-US" sz="2000" dirty="0"/>
            </a:br>
            <a:r>
              <a:rPr lang="en-US" sz="2000" dirty="0"/>
              <a:t>Parkinson’s Disease symptoms appear only after significant neuronal damage, making early diagnosis essential for timely treatment and disease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Limitations of Traditional Diagnosis</a:t>
            </a:r>
            <a:br>
              <a:rPr lang="en-US" sz="2000" dirty="0"/>
            </a:br>
            <a:r>
              <a:rPr lang="en-US" sz="2000" dirty="0"/>
              <a:t>Current methods such as UPDRS and </a:t>
            </a:r>
            <a:r>
              <a:rPr lang="en-US" sz="2000" dirty="0" err="1"/>
              <a:t>DaTSCAN</a:t>
            </a:r>
            <a:r>
              <a:rPr lang="en-US" sz="2000" dirty="0"/>
              <a:t> are expensive, subjective, clinician-dependent, and often detect PD at later stages.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Non-Invasive and Accessible Screening</a:t>
            </a:r>
            <a:br>
              <a:rPr lang="en-US" sz="2000" dirty="0"/>
            </a:br>
            <a:r>
              <a:rPr lang="en-US" sz="2000" dirty="0"/>
              <a:t>Handwriting and speech biomarkers can be captured using simple consumer devices, enabling low-cost and scalable PD screening.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Complementary Biomarkers</a:t>
            </a:r>
            <a:br>
              <a:rPr lang="en-US" sz="2000" dirty="0"/>
            </a:br>
            <a:r>
              <a:rPr lang="en-US" sz="2000" dirty="0"/>
              <a:t>Handwriting reflects motor impairments, while speech captures vocal abnormalities, and combining both provides more reliable diagnostic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Advancements in Deep Learning and Multimodal Fusion</a:t>
            </a:r>
            <a:br>
              <a:rPr lang="en-US" sz="2000" dirty="0"/>
            </a:br>
            <a:r>
              <a:rPr lang="en-US" sz="2000" dirty="0"/>
              <a:t>Modern AI techniques such as </a:t>
            </a:r>
            <a:r>
              <a:rPr lang="en-US" sz="2000" dirty="0" err="1"/>
              <a:t>EfficientNet</a:t>
            </a:r>
            <a:r>
              <a:rPr lang="en-US" sz="2000" dirty="0"/>
              <a:t>, XLS-R, and cross-modal attention enable accurate learning of complex neurological patterns, improving PD detection performance.</a:t>
            </a:r>
            <a:endParaRPr lang="en-US" sz="2000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600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CC52B-73B7-DDD2-C741-7527C90E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/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C75E4-0647-31EF-D0A1-31E02A040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1CCD66-5909-E6BB-08AE-2A4EBCDD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40" y="491614"/>
            <a:ext cx="10875360" cy="5813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15DA-1657-22DE-59EB-5F86B11C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>
            <a:extLst>
              <a:ext uri="{FF2B5EF4-FFF2-40B4-BE49-F238E27FC236}">
                <a16:creationId xmlns:a16="http://schemas.microsoft.com/office/drawing/2014/main" id="{7421FC0F-D38D-708B-F470-5F8D25BF8AFB}"/>
              </a:ext>
            </a:extLst>
          </p:cNvPr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2DC7769B-8060-9983-BB04-7222FAAE4387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A230D-ABA4-2CAA-DF54-0F985EEC7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95F259DE-F7C1-362A-E9A1-A488A339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84" y="570271"/>
            <a:ext cx="10609006" cy="58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4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4F8E-E45A-2A28-58A2-78505756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>
            <a:extLst>
              <a:ext uri="{FF2B5EF4-FFF2-40B4-BE49-F238E27FC236}">
                <a16:creationId xmlns:a16="http://schemas.microsoft.com/office/drawing/2014/main" id="{BABC4C9E-8C78-4E7E-5498-9BDDDF99B3A4}"/>
              </a:ext>
            </a:extLst>
          </p:cNvPr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98AB7F8F-0E56-E454-2B4F-847381CD793C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4F2A5-DC98-DBB2-E504-044539C88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A72127-5C5B-3E14-2E7F-5602EA806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5" y="599768"/>
            <a:ext cx="11193400" cy="59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7AF1-BE59-6F47-8D82-74577F14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7099D82-27AF-790A-F4C4-8CDA517EDB6D}"/>
              </a:ext>
            </a:extLst>
          </p:cNvPr>
          <p:cNvSpPr txBox="1"/>
          <p:nvPr/>
        </p:nvSpPr>
        <p:spPr>
          <a:xfrm>
            <a:off x="102860" y="68627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 / Literature Review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A09CD804-8FB9-C4C6-6D5A-14FF502429C5}"/>
              </a:ext>
            </a:extLst>
          </p:cNvPr>
          <p:cNvSpPr txBox="1"/>
          <p:nvPr/>
        </p:nvSpPr>
        <p:spPr>
          <a:xfrm>
            <a:off x="269283" y="836712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Identified / Improvements over Existing Solutions</a:t>
            </a:r>
          </a:p>
          <a:p>
            <a:pPr marL="457189" indent="-457189"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D6AF4AD-9CAB-8255-1B67-55C19C994E41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9BC8F-3683-6FA3-721D-8F2B9E45C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3F8293-8428-34DE-D31B-C490215C4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253588"/>
              </p:ext>
            </p:extLst>
          </p:nvPr>
        </p:nvGraphicFramePr>
        <p:xfrm>
          <a:off x="599768" y="1371137"/>
          <a:ext cx="10307808" cy="4805827"/>
        </p:xfrm>
        <a:graphic>
          <a:graphicData uri="http://schemas.openxmlformats.org/drawingml/2006/table">
            <a:tbl>
              <a:tblPr/>
              <a:tblGrid>
                <a:gridCol w="5153904">
                  <a:extLst>
                    <a:ext uri="{9D8B030D-6E8A-4147-A177-3AD203B41FA5}">
                      <a16:colId xmlns:a16="http://schemas.microsoft.com/office/drawing/2014/main" val="3142777264"/>
                    </a:ext>
                  </a:extLst>
                </a:gridCol>
                <a:gridCol w="5153904">
                  <a:extLst>
                    <a:ext uri="{9D8B030D-6E8A-4147-A177-3AD203B41FA5}">
                      <a16:colId xmlns:a16="http://schemas.microsoft.com/office/drawing/2014/main" val="98900947"/>
                    </a:ext>
                  </a:extLst>
                </a:gridCol>
              </a:tblGrid>
              <a:tr h="36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Gaps / Limitations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Proposed Solution in This Work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408778"/>
                  </a:ext>
                </a:extLst>
              </a:tr>
              <a:tr h="92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Existing systems rely on only handwriting or speech individually, limiting diagnostic performance.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Proposed a multimodal framework combining handwriting and speech biomarkers for improved PD detection.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659217"/>
                  </a:ext>
                </a:extLst>
              </a:tr>
              <a:tr h="92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Most fusion methods use simple concatenation or late fusion without learning cross-modal relationships.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Introduced Cross-Modal Attention Fusion Network (CMAFN) using bidirectional Transformer cross-attention and GMU.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588689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Limited use of attention mechanisms reduces focus on clinically important patterns.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Integrated CBAM, Multi-Head Attention, and Gated Multimodal Units for enhanced feature learning.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324909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Existing studies suffer from overfitting and data leakage due to improper validation strategies.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Applied patient-level stratified 5-fold cross-validation to ensure reliable and unbiased evaluation.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436378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Many models require GPU-based inference and are difficult to deploy in real-time environments.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Developed a lightweight Flask-based system capable of real-time CPU inference (&lt; 3 seconds).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226213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Unimodal systems achieve comparatively lower accuracy and robustness.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Achieved 96.94% accuracy and 0.9995 AUC-ROC using multimodal cross-modal fusion.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0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7D6-03BF-ABD4-5963-0B5933A5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E241FF9-5D2F-1BC3-DBC2-17F24C9AB970}"/>
              </a:ext>
            </a:extLst>
          </p:cNvPr>
          <p:cNvSpPr txBox="1"/>
          <p:nvPr/>
        </p:nvSpPr>
        <p:spPr>
          <a:xfrm>
            <a:off x="250476" y="265392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15BEA23-F073-686E-2A38-52DB7FE8849D}"/>
              </a:ext>
            </a:extLst>
          </p:cNvPr>
          <p:cNvSpPr txBox="1"/>
          <p:nvPr/>
        </p:nvSpPr>
        <p:spPr>
          <a:xfrm>
            <a:off x="269283" y="836712"/>
            <a:ext cx="11193400" cy="5755896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Develop a handwriting analysis module using 16 clinical biomarkers and deep learning techniques.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Build a multi-path speech analysis system using XLS-R, MFCC, Mel-Spectrogram CNN, and acoustic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Design a Cross-Modal Attention Fusion Network (CMAFN) for integrating handwriting and speech modalities.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Apply patient-level stratified 5-fold cross-validation to ensure reliable and unbiased evaluation.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Implement anti-overfitting strategies such as dropout, label smoothing, and modality regularization.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Deploy the framework as a real-time Flask web application for non-invasive PD screening.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Achieve high diagnostic accuracy and robust multimodal Parkinson’s Disease detection performance. </a:t>
            </a:r>
          </a:p>
          <a:p>
            <a:pPr marL="109917">
              <a:spcBef>
                <a:spcPts val="801"/>
              </a:spcBef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3F1BA4A-B791-6659-F2FD-2647DE6FC648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12AD2-865E-7C9C-72CF-6E38897C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7216-89C0-CB9D-AE24-E3E9229B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2B8452B-B807-C124-7AEC-AE5ED6AE1F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C5E87E07-06AC-81A7-D8B2-979F958A9CDA}"/>
              </a:ext>
            </a:extLst>
          </p:cNvPr>
          <p:cNvSpPr txBox="1"/>
          <p:nvPr/>
        </p:nvSpPr>
        <p:spPr>
          <a:xfrm>
            <a:off x="279555" y="740701"/>
            <a:ext cx="6337555" cy="604061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sz="2800" b="1" dirty="0"/>
              <a:t>Handwriting Analysis Module Architecture</a:t>
            </a: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Input handwritten spiral and wave images are preprocessed and resized to 224×224 resolution.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OpenCV-based image processing techniques are used to extract 16 clinically relevant handwriting biomarkers.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Extracted biomarkers include stroke width, contour roughness, entropy, curvature statistics, fractal dimension, and Hu moments.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architecture uses a dual-pathway learning framework for robust feature extraction.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first pathway uses a Residual MLP model trained on engineered biomarker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second pathway uses EfficientNet-B0 with CBAM attention to learn deep visual handwriting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Outputs from both pathways are combined using Logistic Regression meta-stacking for final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proposed handwriting module achieves 93.6% accuracy with 0.985 AUC-ROC performance. 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76ABF230-9CC5-BA19-052D-F9AD7EDF257F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CA4B3-7F11-0967-B261-8D75F1438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BF6703-600F-1186-9AF4-817E369ED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109" y="1340862"/>
            <a:ext cx="5295335" cy="496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95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EB38-D89F-010F-AABF-832763EC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FFB154F-2831-669D-988C-5F60C21A57CF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1D10B87-9370-FA70-D144-E224933583DA}"/>
              </a:ext>
            </a:extLst>
          </p:cNvPr>
          <p:cNvSpPr txBox="1"/>
          <p:nvPr/>
        </p:nvSpPr>
        <p:spPr>
          <a:xfrm>
            <a:off x="279554" y="740700"/>
            <a:ext cx="7261787" cy="611729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sz="2800" b="1" dirty="0"/>
              <a:t>Speech Analysis Module Architecture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Input speech audio recordings are standardized to 16 kHz with a maximum duration of 8 seconds.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architecture uses a multi-pathway speech processing framework for extracting complementary vocal biomarkers.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first pathway uses XLS-R 300M with </a:t>
            </a:r>
            <a:r>
              <a:rPr lang="en-US" sz="1600" dirty="0" err="1"/>
              <a:t>BiLSTM</a:t>
            </a:r>
            <a:r>
              <a:rPr lang="en-US" sz="1600" dirty="0"/>
              <a:t> to capture self-supervised speech representations and temporal dependencies.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second pathway uses a Mel-Spectrogram CNN to learn spectral and time-frequency speech patterns.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third pathway extracts MFCC and delta coefficients to capture vocal tract and acoustic characteristics.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fourth pathway uses </a:t>
            </a:r>
            <a:r>
              <a:rPr lang="en-US" sz="1600" dirty="0" err="1"/>
              <a:t>Praat</a:t>
            </a:r>
            <a:r>
              <a:rPr lang="en-US" sz="1600" dirty="0"/>
              <a:t>-based acoustic features such as jitter, shimmer, HNR, pitch, and formants.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Features from all pathways are integrated using Multi-Head Cross-Attention for effective multimodal speech feature fusion.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fused features are processed through both Deep Learning and Classical Machine Learning ensemble models.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Ridge Logistic Regression is used as the stacking meta-learner for final prediction.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proposed speech module achieves 91.7% accuracy with 0.971 AUC-ROC performance.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DAF46DAE-7863-4AE4-26A2-DF8184AAF52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232A9B-041C-DB4D-58D8-AE10D968B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B5CD0-D78B-ABA1-3D57-406687D58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4" y="875071"/>
            <a:ext cx="4693619" cy="557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62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0AC7-248A-DE20-77C5-115C7873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59DF8DFF-EF9E-3E45-F2FB-762BE67DBD4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B6010D8-CAC4-9334-58B1-2E8C6C11F540}"/>
              </a:ext>
            </a:extLst>
          </p:cNvPr>
          <p:cNvSpPr txBox="1"/>
          <p:nvPr/>
        </p:nvSpPr>
        <p:spPr>
          <a:xfrm>
            <a:off x="279555" y="740701"/>
            <a:ext cx="6573529" cy="5896073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</a:rPr>
              <a:t>Cross-Modal Attention Fusion Network (CMAFN)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fusion framework integrates handwriting and speech modalities for multimodal Parkinson’s Disease detection.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Handwriting inputs consist of spiral and wave images processed through the handwriting analysis module with 16 clinical biomarkers.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Speech inputs consist of short audio recordings processed through the speech analysis module using XLS-R, MFCC, and acoustic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Features extracted from both modalities are encoded into high-dimensional representations for multimodal learning.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bidirectional Cross-Modal Attention mechanism is used to learn interactions between handwriting and speech biomarkers.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Transformer-based attention enables the model to capture complementary motor and vocal impairment patterns effectively.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Gated Multimodal Unit (GMU) dynamically controls the contribution of each modality during fusion.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fused multimodal representation is passed through classification layers for Parkinson’s Disease risk prediction.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provides PD risk categorization such as LOW, MODERATE, and HIGH for clinical decision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proposed CMAFN model achieves 96.94% accuracy with 0.9995 AUC-ROC, outperforming unimodal approaches. 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D38A44C6-B786-02FF-2B04-A9F6FFBFF1A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627C8-EA16-076E-FF6E-9137DB821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96511-FEF9-A035-9B35-CB171FE9A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052" y="953729"/>
            <a:ext cx="4919761" cy="535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9332-D921-3BFE-A1C6-4CDA7370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9DF74D6-8542-66F4-E5C8-36EC5552BB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D592292-8B68-0429-6562-4780C7DA3939}"/>
              </a:ext>
            </a:extLst>
          </p:cNvPr>
          <p:cNvSpPr txBox="1"/>
          <p:nvPr/>
        </p:nvSpPr>
        <p:spPr>
          <a:xfrm>
            <a:off x="291560" y="740701"/>
            <a:ext cx="11193400" cy="604061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 / Features / Modules</a:t>
            </a: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Handwriting Analysis Module</a:t>
            </a:r>
            <a:r>
              <a:rPr lang="en-IN" sz="2400" dirty="0"/>
              <a:t> – Extracts 16 handwriting biomarkers using OpenCV and deep learning.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Speech Analysis Module</a:t>
            </a:r>
            <a:r>
              <a:rPr lang="en-IN" sz="2400" dirty="0"/>
              <a:t> – Processes speech using XLS-R, MFCC, Mel-Spectrogram CNN, and acoustic features.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CMAFN Fusion Module</a:t>
            </a:r>
            <a:r>
              <a:rPr lang="en-IN" sz="2400" dirty="0"/>
              <a:t> – Integrates handwriting and speech using cross-modal attention and GMU.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Attention Mechanisms</a:t>
            </a:r>
            <a:r>
              <a:rPr lang="en-IN" sz="2400" dirty="0"/>
              <a:t> – Uses CBAM and Multi-Head Attention for enhanced feature learning.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Feature Engineering</a:t>
            </a:r>
            <a:r>
              <a:rPr lang="en-IN" sz="2400" dirty="0"/>
              <a:t> – Extracts spatial, spectral, and acoustic Parkinson’s biomarkers.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Deep Learning + ML Ensemble</a:t>
            </a:r>
            <a:r>
              <a:rPr lang="en-IN" sz="2400" dirty="0"/>
              <a:t> – Combines CNN, </a:t>
            </a:r>
            <a:r>
              <a:rPr lang="en-IN" sz="2400" dirty="0" err="1"/>
              <a:t>BiLSTM</a:t>
            </a:r>
            <a:r>
              <a:rPr lang="en-IN" sz="2400" dirty="0"/>
              <a:t>, Transformer, and classical ML models.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Patient-Level Validation</a:t>
            </a:r>
            <a:r>
              <a:rPr lang="en-IN" sz="2400" dirty="0"/>
              <a:t> – Uses stratified 5-fold cross-validation to avoid data leakage.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/>
              <a:t>Real-Time Web Application</a:t>
            </a:r>
            <a:r>
              <a:rPr lang="en-IN" sz="2400" dirty="0"/>
              <a:t> – Flask-based system for non-invasive PD screening and risk prediction. </a:t>
            </a: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471D65F0-7C33-1A96-D35E-3C9EDA24150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0F54D-98A0-7154-F3DB-CEA97F35E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AD02-BE5E-1467-2150-90B5D740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AFE7C81F-6E58-2367-107E-6694BBFC4019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C105956-1DE0-D7E6-B955-48A1A17A560C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/ Technologies, Frameworks, and Tools Used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4BC6724-9707-184F-3066-39F40243A6B0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14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5297C-41A1-D3DE-E0E5-215AC0FFA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2A2943-052F-3332-1F68-7B87B0EDE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19459"/>
              </p:ext>
            </p:extLst>
          </p:nvPr>
        </p:nvGraphicFramePr>
        <p:xfrm>
          <a:off x="707038" y="1340862"/>
          <a:ext cx="10626502" cy="5167554"/>
        </p:xfrm>
        <a:graphic>
          <a:graphicData uri="http://schemas.openxmlformats.org/drawingml/2006/table">
            <a:tbl>
              <a:tblPr/>
              <a:tblGrid>
                <a:gridCol w="5313251">
                  <a:extLst>
                    <a:ext uri="{9D8B030D-6E8A-4147-A177-3AD203B41FA5}">
                      <a16:colId xmlns:a16="http://schemas.microsoft.com/office/drawing/2014/main" val="1367849388"/>
                    </a:ext>
                  </a:extLst>
                </a:gridCol>
                <a:gridCol w="5313251">
                  <a:extLst>
                    <a:ext uri="{9D8B030D-6E8A-4147-A177-3AD203B41FA5}">
                      <a16:colId xmlns:a16="http://schemas.microsoft.com/office/drawing/2014/main" val="3510187937"/>
                    </a:ext>
                  </a:extLst>
                </a:gridCol>
              </a:tblGrid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Category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Technologies / Algorithms / Tools Used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389357"/>
                  </a:ext>
                </a:extLst>
              </a:tr>
              <a:tr h="589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Deep Learning Models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EfficientNet-B0, XLS-R 300M, BiLSTM, Transformer Attention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743148"/>
                  </a:ext>
                </a:extLst>
              </a:tr>
              <a:tr h="60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Attention Mechanisms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CBAM, Multi-Head Cross-Attention, Gated Multimodal Unit (GMU)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359588"/>
                  </a:ext>
                </a:extLst>
              </a:tr>
              <a:tr h="60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Machine Learning Models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Logistic Regression, Random Forest, SVM, XGBoost, LightGBM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71453"/>
                  </a:ext>
                </a:extLst>
              </a:tr>
              <a:tr h="60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Feature Extraction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MFCC, Mel-Spectrogram, Praat Acoustic Features, OpenCV Biomarkers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852798"/>
                  </a:ext>
                </a:extLst>
              </a:tr>
              <a:tr h="589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Image Processing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OpenCV, Otsu Thresholding, Morphological Operations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246956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Audio Processing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Librosa, Praat, NumPy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399197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Frameworks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PyTorch, Scikit-learn, Flask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563991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Validation Techniques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Stratified 5-Fold Cross-Validation, PCA, SMOTE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41174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Deployment Tools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Flask, Gunicorn, Render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694225"/>
                  </a:ext>
                </a:extLst>
              </a:tr>
              <a:tr h="345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Development Tools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Python, </a:t>
                      </a:r>
                      <a:r>
                        <a:rPr lang="en-IN" sz="1800" dirty="0" err="1"/>
                        <a:t>Jupyter</a:t>
                      </a:r>
                      <a:r>
                        <a:rPr lang="en-IN" sz="1800" dirty="0"/>
                        <a:t> Notebook, VS Code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220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501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2C97-F36E-BCB4-699E-2D81621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160046-EB52-CD90-37C0-AFB11476B9CB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</a:t>
            </a:r>
            <a:br>
              <a:rPr lang="en-US" sz="7066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8A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F3FF00A-8B20-B862-1391-CAE97E4165AE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Descriptions / Input – Output Descriptions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64EDF79D-8D5B-6AFF-0EA3-42D35D8BD3B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29E7A-873F-C14D-0B20-4F447B95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C15D04-39DC-5AF9-5C96-426BF04E9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71247"/>
              </p:ext>
            </p:extLst>
          </p:nvPr>
        </p:nvGraphicFramePr>
        <p:xfrm>
          <a:off x="963561" y="1304619"/>
          <a:ext cx="10137058" cy="5406544"/>
        </p:xfrm>
        <a:graphic>
          <a:graphicData uri="http://schemas.openxmlformats.org/drawingml/2006/table">
            <a:tbl>
              <a:tblPr/>
              <a:tblGrid>
                <a:gridCol w="5068529">
                  <a:extLst>
                    <a:ext uri="{9D8B030D-6E8A-4147-A177-3AD203B41FA5}">
                      <a16:colId xmlns:a16="http://schemas.microsoft.com/office/drawing/2014/main" val="3284983659"/>
                    </a:ext>
                  </a:extLst>
                </a:gridCol>
                <a:gridCol w="5068529">
                  <a:extLst>
                    <a:ext uri="{9D8B030D-6E8A-4147-A177-3AD203B41FA5}">
                      <a16:colId xmlns:a16="http://schemas.microsoft.com/office/drawing/2014/main" val="1327568663"/>
                    </a:ext>
                  </a:extLst>
                </a:gridCol>
              </a:tblGrid>
              <a:tr h="28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Component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Description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43329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Handwriting Dataset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NewHandPD and PaHaW datasets containing spiral and wave handwriting images.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255277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Handwriting Samples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3,264 handwriting images collected from 65 participants.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150346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Speech Dataset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Italian Parkinson’s Voice and Speech dataset from IEEE DataPort.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535151"/>
                  </a:ext>
                </a:extLst>
              </a:tr>
              <a:tr h="28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Speech Samples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831 audio recordings collected from 61 participants.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233719"/>
                  </a:ext>
                </a:extLst>
              </a:tr>
              <a:tr h="28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Image Input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Spiral and wave images resized to 224×224 resolution.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714903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Audio Input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Speech recordings standardized to 16 kHz with duration less than 8 seconds.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811402"/>
                  </a:ext>
                </a:extLst>
              </a:tr>
              <a:tr h="704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Handwriting Features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Stroke width, contour roughness, entropy, curvature, fractal dimension, Hu moments, and other biomarkers.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457458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Speech Features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XLS-R embeddings, MFCC, Mel-Spectrogram, jitter, shimmer, HNR, pitch, and formants.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492147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System Output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Parkinson’s Disease prediction with PD risk categories: LOW, MODERATE, and HIGH.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415983"/>
                  </a:ext>
                </a:extLst>
              </a:tr>
              <a:tr h="493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Evaluation Strategy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Patient-level stratified 5-fold cross-validation to avoid data leakage.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564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08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A995-01EF-3BFB-7823-ADBBEBB2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538C986-A499-4BC7-0FC4-41C7F2F0E21A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B2CA8E46-881A-8416-8683-D5ED614CAA5C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Descriptions (if any) / Initial Conditions</a:t>
            </a:r>
          </a:p>
          <a:p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F31D5F8-9576-A840-BF26-6AA4B120CB3B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41B09-4214-E675-25C5-C90970731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C313F3-70B2-DD64-AB04-F1137272C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06624"/>
              </p:ext>
            </p:extLst>
          </p:nvPr>
        </p:nvGraphicFramePr>
        <p:xfrm>
          <a:off x="692780" y="1364282"/>
          <a:ext cx="10358678" cy="5202630"/>
        </p:xfrm>
        <a:graphic>
          <a:graphicData uri="http://schemas.openxmlformats.org/drawingml/2006/table">
            <a:tbl>
              <a:tblPr/>
              <a:tblGrid>
                <a:gridCol w="5179339">
                  <a:extLst>
                    <a:ext uri="{9D8B030D-6E8A-4147-A177-3AD203B41FA5}">
                      <a16:colId xmlns:a16="http://schemas.microsoft.com/office/drawing/2014/main" val="302171365"/>
                    </a:ext>
                  </a:extLst>
                </a:gridCol>
                <a:gridCol w="5179339">
                  <a:extLst>
                    <a:ext uri="{9D8B030D-6E8A-4147-A177-3AD203B41FA5}">
                      <a16:colId xmlns:a16="http://schemas.microsoft.com/office/drawing/2014/main" val="1857841844"/>
                    </a:ext>
                  </a:extLst>
                </a:gridCol>
              </a:tblGrid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Parameter / Initial Condition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966948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Image Resolution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Handwriting images resized to 224 × 224 pixels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846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Audio Sampling Rate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16 kHz standardized speech audio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614543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Maximum Audio Length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Less than 8 seconds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971498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Handwriting Biomarkers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16 spatial clinical features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42184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MFCC Features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40 MFCC coefficients with delta features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409557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Mel-Spectrogram Size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128 Mel frequency bins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261291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XLS-R Model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facebook/wav2vec2-xls-r-300m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559077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Cross-Validation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Patient-level stratified 5-fold CV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018552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Dropout Rate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Up to 0.6 for overfitting reduction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973163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PCA Dimension Reduction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2247 → 512 dimensions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067296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Attention Mechanisms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CBAM and Multi-Head Cross-Attention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679212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Optimization Techniques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AdamW optimizer, Label Smoothing, Early Stopping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104776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Inference Environment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CPU-based real-time inference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303337"/>
                  </a:ext>
                </a:extLst>
              </a:tr>
              <a:tr h="336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Final Output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PD Risk Prediction: LOW / MODERATE / HIGH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2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36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6590-130F-3A1D-795E-8AFFC2DA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F14393-9A37-2D02-0344-78D9F6E689B1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E49C05A0-2C97-2541-4E28-44A122580ED2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Outcomes ( Tables / Figures / User Interface Snaps)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EC59059-43FC-16C5-5641-AD3BDB70520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CC750-5D7C-122E-E515-2121CE9DC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63A967-2E8F-51FE-548F-F86D72675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929" y="1428861"/>
            <a:ext cx="5284212" cy="3280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28C2A-061A-2CA9-4AEE-DA91F955C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1" y="3008448"/>
            <a:ext cx="5810866" cy="356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0B70-1216-02D6-262F-052A2F4E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B60AF336-44CE-7247-0B45-79090645D009}"/>
              </a:ext>
            </a:extLst>
          </p:cNvPr>
          <p:cNvSpPr txBox="1"/>
          <p:nvPr/>
        </p:nvSpPr>
        <p:spPr>
          <a:xfrm>
            <a:off x="239349" y="-57612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 sz="7066" b="1" spc="-1" dirty="0">
              <a:solidFill>
                <a:srgbClr val="8A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04B85FD5-3FAE-79AB-5054-FA07D62206A0}"/>
              </a:ext>
            </a:extLst>
          </p:cNvPr>
          <p:cNvSpPr txBox="1"/>
          <p:nvPr/>
        </p:nvSpPr>
        <p:spPr>
          <a:xfrm>
            <a:off x="305820" y="740700"/>
            <a:ext cx="11193400" cy="604061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Findings </a:t>
            </a:r>
          </a:p>
          <a:p>
            <a:pPr marL="457200" indent="-45720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The proposed multimodal framework successfully combines handwriting and speech biomarkers for Parkinson’s Disease detection.</a:t>
            </a:r>
          </a:p>
          <a:p>
            <a:pPr marL="457200" indent="-45720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Cross-Modal Attention Fusion Network (CMAFN) achieved 96.94% accuracy with 0.9995 AUC-ROC.</a:t>
            </a:r>
          </a:p>
          <a:p>
            <a:pPr marL="457200" indent="-45720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Multimodal fusion significantly outperformed unimodal handwriting and speech models.</a:t>
            </a:r>
          </a:p>
          <a:p>
            <a:pPr marL="457200" indent="-45720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The system supports real-time, non-invasive, and CPU-efficient clinical screening.</a:t>
            </a: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Limitations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The current system performs only binary classification (PD vs Healthy Control).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Model performance depends on the quality of handwriting images and speech recordings.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Speech dataset is primarily based on Italian voice recordings, limiting language generalization.</a:t>
            </a:r>
          </a:p>
          <a:p>
            <a:pPr marL="285750" indent="-285750">
              <a:spcBef>
                <a:spcPts val="733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Limited dataset diversity may affect large-scale real-world deployment.</a:t>
            </a: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Directions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the framework for Parkinson’s Disease severity prediction and progression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additional biomarkers such as gait analysis and facial expression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cross-language and cross-dataset generalization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lightweight mobile and telemedicine-based deployment solutions.</a:t>
            </a: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0F35EE9-6632-A4B6-2276-B6EF73DD62F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7C302-E233-3B61-E0B1-D2E6140F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7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17" y="158727"/>
            <a:ext cx="11244488" cy="738664"/>
          </a:xfrm>
        </p:spPr>
        <p:txBody>
          <a:bodyPr/>
          <a:lstStyle/>
          <a:p>
            <a:r>
              <a:rPr lang="en-IN" sz="3200" b="1" spc="-1" dirty="0">
                <a:solidFill>
                  <a:srgbClr val="5723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3200" b="1" spc="-1" dirty="0">
              <a:solidFill>
                <a:srgbClr val="5723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358C6-30AF-91C7-9A73-158A41913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3ADB4FE-59FA-AD3F-C174-72C901C22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4417" y="-477631"/>
            <a:ext cx="11244488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Zhao, A., Liu, Y., Yu, X., &amp; Xing, X. (2025).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intelligence-enabled detection and assessment of Parkinson's disease using multimodal data: A survey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https://arxiv.org/abs/2502.10703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 tooltip="Artificial intelligence-enabled detection and assessment of Parkinson's disease using multimodal data: A survey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Huang, W., Xu, Y., Zhou, Y., Li, Z., Huang, J., &amp; Pang, M. (2025).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multimodal in vitro diagnostic method for Parkinson's disease combining facial expressions and behavioral gait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https://arxiv.org/abs/2506.17596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 tooltip="A Multimodal In Vitro Diagnostic Method for Parkinson's Disease Combining Facial Expressions and Behavioral Gait Data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Miah, A. S. M., Suzuki, T., &amp; Shin, J. (2025).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methodological and structural review of Parkinsons disease detection across diverse data modalities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https://arxiv.org/abs/2505.00525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 tooltip="A Methodological and Structural Review of Parkinsons Disease Detection Across Diverse Data Modalities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Islam, M. S., Adnan, T., Freyberg, J., Lee, S., Abdelkader, A., Pawlik, M., Schwartz, C., Jaffe, K., Schneider, R. B., Dorsey, E. R., &amp; Hoque, E. (2024).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Accessible, at-home detection of Parkinson's disease via multi-task video analysis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https://arxiv.org/abs/2406.14856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 tooltip="Accessible, At-Home Detection of Parkinson's Disease via Multi-task Video Analysis"/>
              </a:rPr>
              <a:t>arXiv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Tan, M., &amp; Le, Q. V. (2019).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Rethinking model scaling for convolutional neural networks.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36th International Conference on Machine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6105–6114.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Baevski, A., Zhou, H., Mohamed, A., &amp; Auli, M. (2020). wav2vec 2.0: A framework for self-supervised learning of speech representations.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Advances in Neural Information Processing Systems, 33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12449–12460.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Woo, S., Park, J., Lee, J. Y., &amp; Kweon, I. S. (2018). CBAM: Convolutional block attention module.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European Conference on Computer Vision (ECCV)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3–19.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Vasquez-Correa, J. C., Arias-Vergara, T., Orozco-Arroyave, J. R.,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Eskofier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B. M., &amp; Noth, E. (2019). Multimodal assessment of Parkinson’s disease: A deep learning approach.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Journal of Biomedical and Health Informatics, 23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(4), 1618–1630.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Orozco-Arroyave, J. R., Hönig, F., Arias-Londoño, J. D., Vargas-Bonilla, J. F.,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Daqrouq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K.,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Skodda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Rusz, J., &amp;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E. (2016). Automatic detection of Parkinson’s disease in running speech spoken in three different languages.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Journal of the Acoustical Society of America, 139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(1), 481–500.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Pereira, C. R., Pereira, D. R., Silva, F. A., Hook, C., Weber, S. A., &amp; Papa, J. P. (2018). A step towards the automated diagnosis of Parkinson’s disease: Analyzing handwriting movements.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Expert Systems with Applications, 58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171–179.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914240" y="274680"/>
            <a:ext cx="9996960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endParaRPr lang="en-US" sz="2400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CBCE0-B505-3CFD-B630-DF11CC080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74" y="2123332"/>
            <a:ext cx="5856652" cy="2611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2432</Words>
  <Application>Microsoft Office PowerPoint</Application>
  <PresentationFormat>Widescreen</PresentationFormat>
  <Paragraphs>269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 Black</vt:lpstr>
      <vt:lpstr>Arial Narrow</vt:lpstr>
      <vt:lpstr>Bebas Neue</vt:lpstr>
      <vt:lpstr>Calibri</vt:lpstr>
      <vt:lpstr>Calibri Light</vt:lpstr>
      <vt:lpstr>Gill Sans MT</vt:lpstr>
      <vt:lpstr>Quicksand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Samuka Mohanty</dc:creator>
  <cp:lastModifiedBy>tanguturi venkata  thanuj</cp:lastModifiedBy>
  <cp:revision>15</cp:revision>
  <dcterms:created xsi:type="dcterms:W3CDTF">2026-05-03T04:16:34Z</dcterms:created>
  <dcterms:modified xsi:type="dcterms:W3CDTF">2026-05-06T10:27:59Z</dcterms:modified>
</cp:coreProperties>
</file>