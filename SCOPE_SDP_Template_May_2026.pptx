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5" r:id="rId5"/>
    <p:sldId id="259" r:id="rId6"/>
    <p:sldId id="276" r:id="rId7"/>
    <p:sldId id="277" r:id="rId8"/>
    <p:sldId id="267" r:id="rId9"/>
    <p:sldId id="275" r:id="rId10"/>
    <p:sldId id="268" r:id="rId11"/>
    <p:sldId id="278" r:id="rId12"/>
    <p:sldId id="279" r:id="rId13"/>
    <p:sldId id="269" r:id="rId14"/>
    <p:sldId id="270" r:id="rId15"/>
    <p:sldId id="271" r:id="rId16"/>
    <p:sldId id="272" r:id="rId17"/>
    <p:sldId id="273" r:id="rId18"/>
    <p:sldId id="274" r:id="rId19"/>
    <p:sldId id="264" r:id="rId20"/>
    <p:sldId id="26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Samuka Mohanty" userId="de72a6df0cff6059" providerId="LiveId" clId="{F049E3EC-33CD-420B-BCFD-67B5BFE57956}"/>
    <pc:docChg chg="addSld modSld">
      <pc:chgData name="Dr. Samuka Mohanty" userId="de72a6df0cff6059" providerId="LiveId" clId="{F049E3EC-33CD-420B-BCFD-67B5BFE57956}" dt="2026-05-03T04:19:10.067" v="16" actId="1076"/>
      <pc:docMkLst>
        <pc:docMk/>
      </pc:docMkLst>
      <pc:sldChg chg="modSp add mod">
        <pc:chgData name="Dr. Samuka Mohanty" userId="de72a6df0cff6059" providerId="LiveId" clId="{F049E3EC-33CD-420B-BCFD-67B5BFE57956}" dt="2026-05-03T04:19:10.067" v="16" actId="1076"/>
        <pc:sldMkLst>
          <pc:docMk/>
          <pc:sldMk cId="0" sldId="256"/>
        </pc:sldMkLst>
        <pc:spChg chg="mod">
          <ac:chgData name="Dr. Samuka Mohanty" userId="de72a6df0cff6059" providerId="LiveId" clId="{F049E3EC-33CD-420B-BCFD-67B5BFE57956}" dt="2026-05-03T04:19:10.067" v="16" actId="1076"/>
          <ac:spMkLst>
            <pc:docMk/>
            <pc:sldMk cId="0" sldId="256"/>
            <ac:spMk id="94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7:56.927" v="3" actId="207"/>
        <pc:sldMkLst>
          <pc:docMk/>
          <pc:sldMk cId="0" sldId="257"/>
        </pc:sldMkLst>
        <pc:spChg chg="mod">
          <ac:chgData name="Dr. Samuka Mohanty" userId="de72a6df0cff6059" providerId="LiveId" clId="{F049E3EC-33CD-420B-BCFD-67B5BFE57956}" dt="2026-05-03T04:17:56.927" v="3" actId="207"/>
          <ac:spMkLst>
            <pc:docMk/>
            <pc:sldMk cId="0" sldId="257"/>
            <ac:spMk id="101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8:06.694" v="4" actId="207"/>
        <pc:sldMkLst>
          <pc:docMk/>
          <pc:sldMk cId="0" sldId="258"/>
        </pc:sldMkLst>
        <pc:spChg chg="mod">
          <ac:chgData name="Dr. Samuka Mohanty" userId="de72a6df0cff6059" providerId="LiveId" clId="{F049E3EC-33CD-420B-BCFD-67B5BFE57956}" dt="2026-05-03T04:18:06.694" v="4" actId="207"/>
          <ac:spMkLst>
            <pc:docMk/>
            <pc:sldMk cId="0" sldId="258"/>
            <ac:spMk id="105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8:17.510" v="6" actId="207"/>
        <pc:sldMkLst>
          <pc:docMk/>
          <pc:sldMk cId="0" sldId="259"/>
        </pc:sldMkLst>
        <pc:spChg chg="mod">
          <ac:chgData name="Dr. Samuka Mohanty" userId="de72a6df0cff6059" providerId="LiveId" clId="{F049E3EC-33CD-420B-BCFD-67B5BFE57956}" dt="2026-05-03T04:18:17.510" v="6" actId="207"/>
          <ac:spMkLst>
            <pc:docMk/>
            <pc:sldMk cId="0" sldId="259"/>
            <ac:spMk id="109" creationId="{00000000-0000-0000-0000-000000000000}"/>
          </ac:spMkLst>
        </pc:spChg>
      </pc:sldChg>
      <pc:sldChg chg="add">
        <pc:chgData name="Dr. Samuka Mohanty" userId="de72a6df0cff6059" providerId="LiveId" clId="{F049E3EC-33CD-420B-BCFD-67B5BFE57956}" dt="2026-05-03T04:16:36.127" v="0"/>
        <pc:sldMkLst>
          <pc:docMk/>
          <pc:sldMk cId="0" sldId="263"/>
        </pc:sldMkLst>
      </pc:sldChg>
      <pc:sldChg chg="add">
        <pc:chgData name="Dr. Samuka Mohanty" userId="de72a6df0cff6059" providerId="LiveId" clId="{F049E3EC-33CD-420B-BCFD-67B5BFE57956}" dt="2026-05-03T04:16:36.127" v="0"/>
        <pc:sldMkLst>
          <pc:docMk/>
          <pc:sldMk cId="0" sldId="264"/>
        </pc:sldMkLst>
      </pc:sldChg>
      <pc:sldChg chg="modSp add mod">
        <pc:chgData name="Dr. Samuka Mohanty" userId="de72a6df0cff6059" providerId="LiveId" clId="{F049E3EC-33CD-420B-BCFD-67B5BFE57956}" dt="2026-05-03T04:18:11.430" v="5" actId="207"/>
        <pc:sldMkLst>
          <pc:docMk/>
          <pc:sldMk cId="1481454852" sldId="265"/>
        </pc:sldMkLst>
        <pc:spChg chg="mod">
          <ac:chgData name="Dr. Samuka Mohanty" userId="de72a6df0cff6059" providerId="LiveId" clId="{F049E3EC-33CD-420B-BCFD-67B5BFE57956}" dt="2026-05-03T04:18:11.430" v="5" actId="207"/>
          <ac:spMkLst>
            <pc:docMk/>
            <pc:sldMk cId="1481454852" sldId="265"/>
            <ac:spMk id="105" creationId="{00000000-0000-0000-0000-000000000000}"/>
          </ac:spMkLst>
        </pc:spChg>
      </pc:sldChg>
      <pc:sldChg chg="modSp add mod">
        <pc:chgData name="Dr. Samuka Mohanty" userId="de72a6df0cff6059" providerId="LiveId" clId="{F049E3EC-33CD-420B-BCFD-67B5BFE57956}" dt="2026-05-03T04:18:23.570" v="7" actId="207"/>
        <pc:sldMkLst>
          <pc:docMk/>
          <pc:sldMk cId="900071537" sldId="267"/>
        </pc:sldMkLst>
        <pc:spChg chg="mod">
          <ac:chgData name="Dr. Samuka Mohanty" userId="de72a6df0cff6059" providerId="LiveId" clId="{F049E3EC-33CD-420B-BCFD-67B5BFE57956}" dt="2026-05-03T04:18:23.570" v="7" actId="207"/>
          <ac:spMkLst>
            <pc:docMk/>
            <pc:sldMk cId="900071537" sldId="267"/>
            <ac:spMk id="109" creationId="{87099D82-27AF-790A-F4C4-8CDA517EDB6D}"/>
          </ac:spMkLst>
        </pc:spChg>
      </pc:sldChg>
      <pc:sldChg chg="modSp add mod">
        <pc:chgData name="Dr. Samuka Mohanty" userId="de72a6df0cff6059" providerId="LiveId" clId="{F049E3EC-33CD-420B-BCFD-67B5BFE57956}" dt="2026-05-03T04:18:31.724" v="9" actId="207"/>
        <pc:sldMkLst>
          <pc:docMk/>
          <pc:sldMk cId="2534295434" sldId="268"/>
        </pc:sldMkLst>
        <pc:spChg chg="mod">
          <ac:chgData name="Dr. Samuka Mohanty" userId="de72a6df0cff6059" providerId="LiveId" clId="{F049E3EC-33CD-420B-BCFD-67B5BFE57956}" dt="2026-05-03T04:18:31.724" v="9" actId="207"/>
          <ac:spMkLst>
            <pc:docMk/>
            <pc:sldMk cId="2534295434" sldId="268"/>
            <ac:spMk id="109" creationId="{C2B8452B-B807-C124-7AEC-AE5ED6AE1FBE}"/>
          </ac:spMkLst>
        </pc:spChg>
      </pc:sldChg>
      <pc:sldChg chg="modSp add mod">
        <pc:chgData name="Dr. Samuka Mohanty" userId="de72a6df0cff6059" providerId="LiveId" clId="{F049E3EC-33CD-420B-BCFD-67B5BFE57956}" dt="2026-05-03T04:18:35.564" v="10" actId="207"/>
        <pc:sldMkLst>
          <pc:docMk/>
          <pc:sldMk cId="323131930" sldId="269"/>
        </pc:sldMkLst>
        <pc:spChg chg="mod">
          <ac:chgData name="Dr. Samuka Mohanty" userId="de72a6df0cff6059" providerId="LiveId" clId="{F049E3EC-33CD-420B-BCFD-67B5BFE57956}" dt="2026-05-03T04:18:35.564" v="10" actId="207"/>
          <ac:spMkLst>
            <pc:docMk/>
            <pc:sldMk cId="323131930" sldId="269"/>
            <ac:spMk id="109" creationId="{C9DF74D6-8542-66F4-E5C8-36EC5552BBBE}"/>
          </ac:spMkLst>
        </pc:spChg>
      </pc:sldChg>
      <pc:sldChg chg="modSp add mod">
        <pc:chgData name="Dr. Samuka Mohanty" userId="de72a6df0cff6059" providerId="LiveId" clId="{F049E3EC-33CD-420B-BCFD-67B5BFE57956}" dt="2026-05-03T04:18:41.178" v="11" actId="207"/>
        <pc:sldMkLst>
          <pc:docMk/>
          <pc:sldMk cId="3267501494" sldId="270"/>
        </pc:sldMkLst>
        <pc:spChg chg="mod">
          <ac:chgData name="Dr. Samuka Mohanty" userId="de72a6df0cff6059" providerId="LiveId" clId="{F049E3EC-33CD-420B-BCFD-67B5BFE57956}" dt="2026-05-03T04:18:41.178" v="11" actId="207"/>
          <ac:spMkLst>
            <pc:docMk/>
            <pc:sldMk cId="3267501494" sldId="270"/>
            <ac:spMk id="109" creationId="{AFE7C81F-6E58-2367-107E-6694BBFC4019}"/>
          </ac:spMkLst>
        </pc:spChg>
      </pc:sldChg>
      <pc:sldChg chg="modSp add mod">
        <pc:chgData name="Dr. Samuka Mohanty" userId="de72a6df0cff6059" providerId="LiveId" clId="{F049E3EC-33CD-420B-BCFD-67B5BFE57956}" dt="2026-05-03T04:18:45.878" v="12" actId="207"/>
        <pc:sldMkLst>
          <pc:docMk/>
          <pc:sldMk cId="1393089956" sldId="271"/>
        </pc:sldMkLst>
        <pc:spChg chg="mod">
          <ac:chgData name="Dr. Samuka Mohanty" userId="de72a6df0cff6059" providerId="LiveId" clId="{F049E3EC-33CD-420B-BCFD-67B5BFE57956}" dt="2026-05-03T04:18:45.878" v="12" actId="207"/>
          <ac:spMkLst>
            <pc:docMk/>
            <pc:sldMk cId="1393089956" sldId="271"/>
            <ac:spMk id="109" creationId="{92160046-EB52-CD90-37C0-AFB11476B9CB}"/>
          </ac:spMkLst>
        </pc:spChg>
      </pc:sldChg>
      <pc:sldChg chg="modSp add mod">
        <pc:chgData name="Dr. Samuka Mohanty" userId="de72a6df0cff6059" providerId="LiveId" clId="{F049E3EC-33CD-420B-BCFD-67B5BFE57956}" dt="2026-05-03T04:18:50.138" v="13" actId="207"/>
        <pc:sldMkLst>
          <pc:docMk/>
          <pc:sldMk cId="553369231" sldId="272"/>
        </pc:sldMkLst>
        <pc:spChg chg="mod">
          <ac:chgData name="Dr. Samuka Mohanty" userId="de72a6df0cff6059" providerId="LiveId" clId="{F049E3EC-33CD-420B-BCFD-67B5BFE57956}" dt="2026-05-03T04:18:50.138" v="13" actId="207"/>
          <ac:spMkLst>
            <pc:docMk/>
            <pc:sldMk cId="553369231" sldId="272"/>
            <ac:spMk id="109" creationId="{9538C986-A499-4BC7-0FC4-41C7F2F0E21A}"/>
          </ac:spMkLst>
        </pc:spChg>
      </pc:sldChg>
      <pc:sldChg chg="modSp add mod">
        <pc:chgData name="Dr. Samuka Mohanty" userId="de72a6df0cff6059" providerId="LiveId" clId="{F049E3EC-33CD-420B-BCFD-67B5BFE57956}" dt="2026-05-03T04:18:54.380" v="14" actId="207"/>
        <pc:sldMkLst>
          <pc:docMk/>
          <pc:sldMk cId="362366037" sldId="273"/>
        </pc:sldMkLst>
        <pc:spChg chg="mod">
          <ac:chgData name="Dr. Samuka Mohanty" userId="de72a6df0cff6059" providerId="LiveId" clId="{F049E3EC-33CD-420B-BCFD-67B5BFE57956}" dt="2026-05-03T04:18:54.380" v="14" actId="207"/>
          <ac:spMkLst>
            <pc:docMk/>
            <pc:sldMk cId="362366037" sldId="273"/>
            <ac:spMk id="109" creationId="{92F14393-9A37-2D02-0344-78D9F6E689B1}"/>
          </ac:spMkLst>
        </pc:spChg>
      </pc:sldChg>
      <pc:sldChg chg="modSp add mod">
        <pc:chgData name="Dr. Samuka Mohanty" userId="de72a6df0cff6059" providerId="LiveId" clId="{F049E3EC-33CD-420B-BCFD-67B5BFE57956}" dt="2026-05-03T04:18:59.702" v="15" actId="207"/>
        <pc:sldMkLst>
          <pc:docMk/>
          <pc:sldMk cId="758775182" sldId="274"/>
        </pc:sldMkLst>
        <pc:spChg chg="mod">
          <ac:chgData name="Dr. Samuka Mohanty" userId="de72a6df0cff6059" providerId="LiveId" clId="{F049E3EC-33CD-420B-BCFD-67B5BFE57956}" dt="2026-05-03T04:18:59.702" v="15" actId="207"/>
          <ac:spMkLst>
            <pc:docMk/>
            <pc:sldMk cId="758775182" sldId="274"/>
            <ac:spMk id="109" creationId="{B60AF336-44CE-7247-0B45-79090645D009}"/>
          </ac:spMkLst>
        </pc:spChg>
      </pc:sldChg>
      <pc:sldChg chg="modSp add mod">
        <pc:chgData name="Dr. Samuka Mohanty" userId="de72a6df0cff6059" providerId="LiveId" clId="{F049E3EC-33CD-420B-BCFD-67B5BFE57956}" dt="2026-05-03T04:18:27.572" v="8" actId="207"/>
        <pc:sldMkLst>
          <pc:docMk/>
          <pc:sldMk cId="4017485065" sldId="275"/>
        </pc:sldMkLst>
        <pc:spChg chg="mod">
          <ac:chgData name="Dr. Samuka Mohanty" userId="de72a6df0cff6059" providerId="LiveId" clId="{F049E3EC-33CD-420B-BCFD-67B5BFE57956}" dt="2026-05-03T04:18:27.572" v="8" actId="207"/>
          <ac:spMkLst>
            <pc:docMk/>
            <pc:sldMk cId="4017485065" sldId="275"/>
            <ac:spMk id="109" creationId="{2E241FF9-5D2F-1BC3-DBC2-17F24C9AB9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A9119-8600-41C0-9D23-A09797EEA137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9126A5-C552-4B90-A95D-802E5060EB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2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13622-15DD-42DB-94A2-CC190AAE8F1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452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13622-15DD-42DB-94A2-CC190AAE8F19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760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F860-9A4F-A739-3894-FFFD4D760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C36C8E-C388-DF87-EE37-CD35079AF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423D7-4A43-287A-E802-F462B9D6B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C5850-708A-BC00-73F9-B3A04E9C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65084-8D0D-3938-8EF3-82961716B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0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D55B-81BD-5F75-AF3E-FC60E438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C150F-313F-F850-7761-E98456974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B7F43-397F-4BD7-1315-C6BC2BDAD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34C40-4095-2F24-F259-46E8E0CC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EE44F-992A-8414-6120-C2D6F0ED5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75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EFF2-AB84-9BFF-B9FB-75EDBACF2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BD665-C9F0-C0CB-FD83-58D82EEB0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7FA41-3586-1383-A515-0E75E297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64F0-E8A3-E4CD-53B1-3FA0B261B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941AB-F385-A334-4A9E-5A963AD8B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18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7C6F4-BEAA-9993-A83B-44B686724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D61B3-E8EC-1D65-A742-3E1E08BB4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54131-57F3-1C42-2130-768F959D6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08877-4367-622A-3208-CABE98FFF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2CD75-9622-2B2D-AA66-D19EAD53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B245C-35BB-68C9-BCFA-2C9A5C9EC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508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7DE10-806C-907C-7430-E358ED060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C441B-D9A5-0866-46E4-00BF73CB0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97710B-6A5A-F6B5-FE2F-5D40AD1C24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77035A-F231-2DE6-25EA-AF87B596FB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BD18A0-27A2-FED4-A218-7B0A6B157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519596-FD3E-FB50-E40F-65B4892A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F5FA87-151F-64E8-FD65-E9D7BF052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DFD60A-11FF-FAF5-7B1E-4D87C8912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24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A0DE5-26B5-86E6-C95A-DBAD3B08C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CB837F-2029-4213-DFB6-06681D163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3D2DF-E69D-E6E8-8A6D-2DD090362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0085D-05D8-CCF2-E1CC-A458771B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09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675B02-6C70-4B9F-9A37-084793F5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96A383-F641-4A35-8BFD-5B852303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BA0ED3-8284-6536-B3F0-DD0888D8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88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DB58B-2C7D-7E8E-9544-111AB9649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8196D-020E-D8E7-4736-6A55E1C81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549AA-ED67-A21A-0FC3-E4D8A08906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E3A13-6704-A573-A354-DE5D1129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ECA55-7393-6137-D922-836DB917B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702CF-081A-2904-FF4D-1D356B316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B1B1-04FA-BA97-ECF3-61DC65F6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9CD45-DF68-C3A7-BD38-85F9475A8C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3FBEC8-520C-F3D8-32A4-F28A1F786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23C3C-D233-ADAB-3F5E-E6454E213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9CA25-313A-AF8C-21AA-138D1649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E6AF0-DC1A-B8F8-6270-A0E813EDE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7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0C084-6F32-171F-D9C3-7CA541F0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BB6EB3-00FF-1C3A-C216-0C897611D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2BBC5-EF81-5A65-FB85-4B780ED4E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3B67-C9BE-100D-FFDF-EFAB37A6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3E983-F95C-E165-8104-5A0DEA88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5479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9A19F7-6182-36C3-E8A3-4EB194F835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48814-E165-CD1C-29F0-6E790C73B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67670-9EAD-345D-E528-1DC2E201C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B1160-5BD2-9A1A-672F-408A7CA50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EA2FB-723E-4243-EE93-2068E73D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494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953467" y="713333"/>
            <a:ext cx="10278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960000" y="1907933"/>
            <a:ext cx="10272000" cy="423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292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C6CFD-5814-9ED2-2B86-FB0EFC191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DC0D5-8BE2-6BE9-7867-7896523CE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8E352-CF57-5519-65F6-A40208BAD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9AC0-57E6-4806-9FC7-7423DB7F4C34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5BFA5-9814-9D77-9580-804B22957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68CBE-BD77-44C6-20FA-5A465825A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D0074-00CC-4555-ACF0-C7232A5693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334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7360" y="335001"/>
            <a:ext cx="11666291" cy="201600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733" b="1" spc="-133" dirty="0">
                <a:solidFill>
                  <a:srgbClr val="8A0000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Senior Design Project </a:t>
            </a:r>
            <a:r>
              <a:rPr lang="en-US" sz="3733" b="1" cap="all" spc="-133" dirty="0">
                <a:solidFill>
                  <a:srgbClr val="8A0000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R</a:t>
            </a:r>
            <a:r>
              <a:rPr lang="en-US" sz="3733" b="1" spc="-133" dirty="0">
                <a:solidFill>
                  <a:srgbClr val="8A0000"/>
                </a:solidFill>
                <a:latin typeface="Arial Black" panose="020B0A04020102020204" pitchFamily="34" charset="0"/>
                <a:ea typeface="+mj-ea"/>
                <a:cs typeface="Arial" panose="020B0604020202020204" pitchFamily="34" charset="0"/>
              </a:rPr>
              <a:t>eview</a:t>
            </a:r>
            <a:br>
              <a:rPr sz="1467" dirty="0">
                <a:latin typeface="Bebas Neue"/>
              </a:rPr>
            </a:br>
            <a:r>
              <a:rPr lang="en-US" sz="1467" dirty="0">
                <a:latin typeface="Bebas Neue"/>
              </a:rPr>
              <a:t>			</a:t>
            </a:r>
          </a:p>
          <a:p>
            <a:pPr algn="ctr">
              <a:lnSpc>
                <a:spcPct val="100000"/>
              </a:lnSpc>
            </a:pPr>
            <a:r>
              <a:rPr lang="en-US" sz="3733" b="1" spc="-1" dirty="0">
                <a:solidFill>
                  <a:srgbClr val="572314"/>
                </a:solidFill>
                <a:latin typeface="Arial Narrow" panose="020B0606020202030204" pitchFamily="34" charset="0"/>
              </a:rPr>
              <a:t>Multi-Modal Deep Learning for Parkinson’s</a:t>
            </a:r>
          </a:p>
          <a:p>
            <a:pPr algn="ctr">
              <a:lnSpc>
                <a:spcPct val="100000"/>
              </a:lnSpc>
            </a:pPr>
            <a:r>
              <a:rPr lang="en-US" sz="3733" b="1" spc="-1" dirty="0">
                <a:solidFill>
                  <a:srgbClr val="572314"/>
                </a:solidFill>
                <a:latin typeface="Arial Narrow" panose="020B0606020202030204" pitchFamily="34" charset="0"/>
              </a:rPr>
              <a:t>Detection</a:t>
            </a:r>
            <a:endParaRPr lang="en-US" sz="3733" b="1" spc="-1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4347558" y="2376521"/>
            <a:ext cx="3210843" cy="863640"/>
          </a:xfrm>
          <a:prstGeom prst="rect">
            <a:avLst/>
          </a:prstGeom>
          <a:noFill/>
          <a:ln>
            <a:noFill/>
          </a:ln>
        </p:spPr>
        <p:txBody>
          <a:bodyPr lIns="120000" tIns="0" rIns="120000" bIns="60000">
            <a:normAutofit fontScale="94000"/>
          </a:bodyPr>
          <a:lstStyle/>
          <a:p>
            <a:pPr algn="ctr">
              <a:lnSpc>
                <a:spcPct val="100000"/>
              </a:lnSpc>
            </a:pPr>
            <a:r>
              <a:rPr lang="en-IN" sz="2400" b="1" spc="-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SDP ID:</a:t>
            </a:r>
            <a:r>
              <a:rPr lang="en-IN" sz="2400" b="1" dirty="0">
                <a:solidFill>
                  <a:srgbClr val="FF0000"/>
                </a:solidFill>
              </a:rPr>
              <a:t> 20250854</a:t>
            </a:r>
            <a:endParaRPr lang="en-IN" sz="2400" spc="-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11259" y="2808341"/>
            <a:ext cx="4896544" cy="336353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60000" rIns="120000" bIns="60000">
            <a:spAutoFit/>
          </a:bodyPr>
          <a:lstStyle/>
          <a:p>
            <a:r>
              <a:rPr lang="en-IN" sz="1867" b="1" spc="-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  <a:endParaRPr lang="en-IN" sz="1867" spc="-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IN" sz="18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of the Student(s) with Regd. No.:</a:t>
            </a:r>
          </a:p>
          <a:p>
            <a:pPr>
              <a:lnSpc>
                <a:spcPct val="100000"/>
              </a:lnSpc>
            </a:pPr>
            <a:endParaRPr lang="en-IN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Tanguturi Venkata Thanuj (22BCE20003)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Katam Krishna Chaitanya (22BCE7359)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Pathakuntla Narendar Reddy (22BCE7707)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en-IN" sz="2000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IN" sz="1867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CustomShape 4"/>
          <p:cNvSpPr/>
          <p:nvPr/>
        </p:nvSpPr>
        <p:spPr>
          <a:xfrm>
            <a:off x="7440150" y="5585003"/>
            <a:ext cx="5163893" cy="127026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60000" rIns="120000" bIns="60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2667" b="1" spc="-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SCOPE</a:t>
            </a:r>
          </a:p>
          <a:p>
            <a:pPr algn="ctr">
              <a:lnSpc>
                <a:spcPct val="100000"/>
              </a:lnSpc>
            </a:pPr>
            <a:r>
              <a:rPr lang="en-IN" sz="24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VIT-AP University,</a:t>
            </a:r>
          </a:p>
          <a:p>
            <a:pPr algn="ctr">
              <a:lnSpc>
                <a:spcPct val="100000"/>
              </a:lnSpc>
            </a:pPr>
            <a:r>
              <a:rPr lang="en-IN" sz="2400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Amravati, India</a:t>
            </a:r>
            <a:endParaRPr lang="en-IN" sz="2133" spc="-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600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207360" y="-144360"/>
            <a:ext cx="406080" cy="304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60FE66-D837-8A32-CA26-C63B350C9B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704" y="7668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205574" y="233053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81500" lnSpcReduction="20000"/>
          </a:bodyPr>
          <a:lstStyle/>
          <a:p>
            <a:pPr>
              <a:lnSpc>
                <a:spcPct val="100000"/>
              </a:lnSpc>
            </a:pPr>
            <a:r>
              <a:rPr lang="en-US" sz="4267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</a:t>
            </a:r>
            <a:r>
              <a:rPr lang="en-US" sz="4267" b="1" spc="-1" dirty="0">
                <a:solidFill>
                  <a:srgbClr val="8A0000"/>
                </a:solidFill>
                <a:latin typeface="Times New Roman" pitchFamily="18" charset="0"/>
                <a:cs typeface="Times New Roman" pitchFamily="18" charset="0"/>
              </a:rPr>
              <a:t> Outline</a:t>
            </a:r>
            <a:br>
              <a:rPr sz="2400" dirty="0">
                <a:latin typeface="Times New Roman" pitchFamily="18" charset="0"/>
                <a:cs typeface="Times New Roman" pitchFamily="18" charset="0"/>
              </a:rPr>
            </a:br>
            <a:endParaRPr lang="en-US" sz="5733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479957" y="804373"/>
            <a:ext cx="11339739" cy="57401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 and Problem Statement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Motivations 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Related Work/ Literature Review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Solutions / Literature Survey 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Gaps Identified / Improvements Over Existing Solutions</a:t>
            </a:r>
            <a:endParaRPr lang="en-US" sz="2133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 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 /Workflow Diagram /Model Diagram /Block Diagram/UML diagrams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Components/Features/Modules</a:t>
            </a:r>
          </a:p>
          <a:p>
            <a:pPr marL="1100972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1867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 Used/Technologies, Frameworks, and Tools Used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</a:p>
          <a:p>
            <a:pPr marL="491388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 ( Findings, Limitations, Future Directions )</a:t>
            </a:r>
          </a:p>
          <a:p>
            <a:pPr marL="491388" lvl="1" indent="-380990">
              <a:spcBef>
                <a:spcPts val="801"/>
              </a:spcBef>
              <a:buClr>
                <a:srgbClr val="C00000"/>
              </a:buClr>
              <a:buSzPct val="80000"/>
              <a:buFont typeface="Wingdings" panose="05000000000000000000" pitchFamily="2" charset="2"/>
              <a:buChar char="q"/>
            </a:pPr>
            <a:r>
              <a:rPr lang="en-IN" sz="2133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2133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465B10-025F-38FB-D40D-A8B640C930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143339" y="-123395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239349" y="836712"/>
            <a:ext cx="11339739" cy="5259288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16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733"/>
              </a:spcBef>
              <a:buClr>
                <a:srgbClr val="C00000"/>
              </a:buClr>
            </a:pPr>
            <a:r>
              <a:rPr lang="en-IN" sz="2000" dirty="0"/>
              <a:t>Parkinson’s Disease (PD) is a progressive neurodegenerative disorder where significant neuronal damage occurs before visible symptoms appear, making early detection essential. This project proposes a multimodal deep learning framework that combines handwriting and speech biomarkers for non-invasive PD screening. Using EfficientNet-B0, XLS-R 300M, and a novel Cross-Modal Attention Fusion Network (CMAFN), the system achieves 96.94% accuracy and 0.9995 AUC-ROC, while supporting real-time clinical screening through a Flask-based web application.</a:t>
            </a: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15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/>
              <a:t>Traditional Parkinson’s Disease diagnosis depends on subjective clinical assessments such as UPDRS and expensive neuroimaging techniques like </a:t>
            </a:r>
            <a:r>
              <a:rPr lang="en-US" sz="2000" dirty="0" err="1"/>
              <a:t>DaTSCAN</a:t>
            </a:r>
            <a:r>
              <a:rPr lang="en-US" sz="2000" dirty="0"/>
              <a:t>, which are costly, clinician-dependent, and often detect the disease only at later stages. Therefore, there is a strong need for an automated, low-cost, and non-invasive screening system that can identify early Parkinson’s biomarkers from simple handwriting drawings and short speech recordings.</a:t>
            </a:r>
            <a:endParaRPr lang="en-US" sz="2000" spc="-1" dirty="0">
              <a:solidFill>
                <a:srgbClr val="000000"/>
              </a:solidFill>
              <a:latin typeface="Gill Sans MT"/>
            </a:endParaRPr>
          </a:p>
          <a:p>
            <a:endParaRPr lang="en-US" sz="3733" b="1" spc="-1" dirty="0">
              <a:solidFill>
                <a:srgbClr val="000000"/>
              </a:solidFill>
              <a:latin typeface="Gill Sans MT"/>
            </a:endParaRPr>
          </a:p>
          <a:p>
            <a:endParaRPr lang="en-US" sz="3733" b="1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733" b="1" spc="-1" dirty="0">
              <a:solidFill>
                <a:srgbClr val="000000"/>
              </a:solidFill>
              <a:latin typeface="Gill Sans MT"/>
            </a:endParaRPr>
          </a:p>
          <a:p>
            <a:pPr>
              <a:spcBef>
                <a:spcPts val="801"/>
              </a:spcBef>
            </a:pPr>
            <a:endParaRPr lang="en-US" sz="3733" b="1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3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78CB6-DE7A-C21F-2E51-769B34EEC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124187" y="-152800"/>
            <a:ext cx="1114923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145221" y="836712"/>
            <a:ext cx="11339739" cy="5468688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Motivations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15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Need for Early Detection</a:t>
            </a:r>
            <a:br>
              <a:rPr lang="en-US" sz="2000" dirty="0"/>
            </a:br>
            <a:r>
              <a:rPr lang="en-US" sz="2000" dirty="0"/>
              <a:t>Parkinson’s Disease symptoms appear only after significant neuronal damage, making early diagnosis essential for timely treatment and disease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Limitations of Traditional Diagnosis</a:t>
            </a:r>
            <a:br>
              <a:rPr lang="en-US" sz="2000" dirty="0"/>
            </a:br>
            <a:r>
              <a:rPr lang="en-US" sz="2000" dirty="0"/>
              <a:t>Current methods such as UPDRS and </a:t>
            </a:r>
            <a:r>
              <a:rPr lang="en-US" sz="2000" dirty="0" err="1"/>
              <a:t>DaTSCAN</a:t>
            </a:r>
            <a:r>
              <a:rPr lang="en-US" sz="2000" dirty="0"/>
              <a:t> are expensive, subjective, clinician-dependent, and often detect PD at later stages.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Non-Invasive and Accessible Screening</a:t>
            </a:r>
            <a:br>
              <a:rPr lang="en-US" sz="2000" dirty="0"/>
            </a:br>
            <a:r>
              <a:rPr lang="en-US" sz="2000" dirty="0"/>
              <a:t>Handwriting and speech biomarkers can be captured using simple consumer devices, enabling low-cost and scalable PD screening.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Complementary Biomarkers</a:t>
            </a:r>
            <a:br>
              <a:rPr lang="en-US" sz="2000" dirty="0"/>
            </a:br>
            <a:r>
              <a:rPr lang="en-US" sz="2000" dirty="0"/>
              <a:t>Handwriting reflects motor impairments, while speech captures vocal abnormalities, and combining both provides more reliable diagnostic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Advancements in Deep Learning and Multimodal Fusion</a:t>
            </a:r>
            <a:br>
              <a:rPr lang="en-US" sz="2000" dirty="0"/>
            </a:br>
            <a:r>
              <a:rPr lang="en-US" sz="2000" dirty="0"/>
              <a:t>Modern AI techniques such as </a:t>
            </a:r>
            <a:r>
              <a:rPr lang="en-US" sz="2000" dirty="0" err="1"/>
              <a:t>EfficientNet</a:t>
            </a:r>
            <a:r>
              <a:rPr lang="en-US" sz="2000" dirty="0"/>
              <a:t>, XLS-R, and cross-modal attention enable accurate learning of complex neurological patterns, improving PD detection performance.</a:t>
            </a:r>
            <a:endParaRPr lang="en-US" sz="2000" spc="-1" dirty="0">
              <a:solidFill>
                <a:srgbClr val="000000"/>
              </a:solidFill>
              <a:latin typeface="Gill Sans MT"/>
            </a:endParaRPr>
          </a:p>
          <a:p>
            <a:endParaRPr lang="en-US" sz="3733" spc="-1" dirty="0">
              <a:solidFill>
                <a:srgbClr val="000000"/>
              </a:solidFill>
              <a:latin typeface="Gill Sans MT"/>
            </a:endParaRPr>
          </a:p>
          <a:p>
            <a:endParaRPr lang="en-US" sz="3733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733" spc="-1" dirty="0">
              <a:solidFill>
                <a:srgbClr val="000000"/>
              </a:solidFill>
              <a:latin typeface="Gill Sans MT"/>
            </a:endParaRPr>
          </a:p>
          <a:p>
            <a:pPr>
              <a:spcBef>
                <a:spcPts val="801"/>
              </a:spcBef>
            </a:pPr>
            <a:endParaRPr lang="en-US" sz="3733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6524399E-7446-4F74-B823-A4CC295C522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4</a:t>
            </a:fld>
            <a:endParaRPr lang="en-IN" sz="1600" spc="-1">
              <a:latin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1CC52B-73B7-DDD2-C741-7527C90E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2"/>
          <p:cNvSpPr txBox="1"/>
          <p:nvPr/>
        </p:nvSpPr>
        <p:spPr>
          <a:xfrm>
            <a:off x="291560" y="1022660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6C75E4-0647-31EF-D0A1-31E02A040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1CCD66-5909-E6BB-08AE-2A4EBCDD6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40" y="491614"/>
            <a:ext cx="10875360" cy="58137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15DA-1657-22DE-59EB-5F86B11C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2">
            <a:extLst>
              <a:ext uri="{FF2B5EF4-FFF2-40B4-BE49-F238E27FC236}">
                <a16:creationId xmlns:a16="http://schemas.microsoft.com/office/drawing/2014/main" id="{7421FC0F-D38D-708B-F470-5F8D25BF8AFB}"/>
              </a:ext>
            </a:extLst>
          </p:cNvPr>
          <p:cNvSpPr txBox="1"/>
          <p:nvPr/>
        </p:nvSpPr>
        <p:spPr>
          <a:xfrm>
            <a:off x="291560" y="1022660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2DC7769B-8060-9983-BB04-7222FAAE4387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6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4A230D-ABA4-2CAA-DF54-0F985EEC7A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95F259DE-F7C1-362A-E9A1-A488A339E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84" y="570271"/>
            <a:ext cx="10609006" cy="584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648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84F8E-E45A-2A28-58A2-785057560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2">
            <a:extLst>
              <a:ext uri="{FF2B5EF4-FFF2-40B4-BE49-F238E27FC236}">
                <a16:creationId xmlns:a16="http://schemas.microsoft.com/office/drawing/2014/main" id="{BABC4C9E-8C78-4E7E-5498-9BDDDF99B3A4}"/>
              </a:ext>
            </a:extLst>
          </p:cNvPr>
          <p:cNvSpPr txBox="1"/>
          <p:nvPr/>
        </p:nvSpPr>
        <p:spPr>
          <a:xfrm>
            <a:off x="291560" y="1022660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98AB7F8F-0E56-E454-2B4F-847381CD793C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7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4F2A5-DC98-DBB2-E504-044539C88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8A72127-5C5B-3E14-2E7F-5602EA806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5" y="599768"/>
            <a:ext cx="11193400" cy="590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25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67AF1-BE59-6F47-8D82-74577F14A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87099D82-27AF-790A-F4C4-8CDA517EDB6D}"/>
              </a:ext>
            </a:extLst>
          </p:cNvPr>
          <p:cNvSpPr txBox="1"/>
          <p:nvPr/>
        </p:nvSpPr>
        <p:spPr>
          <a:xfrm>
            <a:off x="102860" y="68627"/>
            <a:ext cx="1105398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68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Background &amp; Related Work / Literature Review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A09CD804-8FB9-C4C6-6D5A-14FF502429C5}"/>
              </a:ext>
            </a:extLst>
          </p:cNvPr>
          <p:cNvSpPr txBox="1"/>
          <p:nvPr/>
        </p:nvSpPr>
        <p:spPr>
          <a:xfrm>
            <a:off x="269283" y="836712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Gaps Identified / Improvements over Existing Solutions</a:t>
            </a:r>
          </a:p>
          <a:p>
            <a:pPr marL="457189" indent="-457189">
              <a:buFont typeface="Wingdings" panose="05000000000000000000" pitchFamily="2" charset="2"/>
              <a:buChar char="q"/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D6AF4AD-9CAB-8255-1B67-55C19C994E41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8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9BC8F-3683-6FA3-721D-8F2B9E45C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3F8293-8428-34DE-D31B-C490215C4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253588"/>
              </p:ext>
            </p:extLst>
          </p:nvPr>
        </p:nvGraphicFramePr>
        <p:xfrm>
          <a:off x="599768" y="1371137"/>
          <a:ext cx="10307808" cy="4805827"/>
        </p:xfrm>
        <a:graphic>
          <a:graphicData uri="http://schemas.openxmlformats.org/drawingml/2006/table">
            <a:tbl>
              <a:tblPr/>
              <a:tblGrid>
                <a:gridCol w="5153904">
                  <a:extLst>
                    <a:ext uri="{9D8B030D-6E8A-4147-A177-3AD203B41FA5}">
                      <a16:colId xmlns:a16="http://schemas.microsoft.com/office/drawing/2014/main" val="3142777264"/>
                    </a:ext>
                  </a:extLst>
                </a:gridCol>
                <a:gridCol w="5153904">
                  <a:extLst>
                    <a:ext uri="{9D8B030D-6E8A-4147-A177-3AD203B41FA5}">
                      <a16:colId xmlns:a16="http://schemas.microsoft.com/office/drawing/2014/main" val="98900947"/>
                    </a:ext>
                  </a:extLst>
                </a:gridCol>
              </a:tblGrid>
              <a:tr h="3696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Existing Gaps / Limitations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Proposed Solution in This Work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0408778"/>
                  </a:ext>
                </a:extLst>
              </a:tr>
              <a:tr h="92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Existing systems rely on only handwriting or speech individually, limiting diagnostic performance.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Proposed a multimodal framework combining handwriting and speech biomarkers for improved PD detection.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659217"/>
                  </a:ext>
                </a:extLst>
              </a:tr>
              <a:tr h="9241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Most fusion methods use simple concatenation or late fusion without learning cross-modal relationships.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Introduced Cross-Modal Attention Fusion Network (CMAFN) using bidirectional Transformer cross-attention and GMU.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588689"/>
                  </a:ext>
                </a:extLst>
              </a:tr>
              <a:tr h="64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Limited use of attention mechanisms reduces focus on clinically important patterns.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Integrated CBAM, Multi-Head Attention, and Gated Multimodal Units for enhanced feature learning.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324909"/>
                  </a:ext>
                </a:extLst>
              </a:tr>
              <a:tr h="64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Existing studies suffer from overfitting and data leakage due to improper validation strategies.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Applied patient-level stratified 5-fold cross-validation to ensure reliable and unbiased evaluation.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436378"/>
                  </a:ext>
                </a:extLst>
              </a:tr>
              <a:tr h="64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Many models require GPU-based inference and are difficult to deploy in real-time environments.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Developed a lightweight Flask-based system capable of real-time CPU inference (&lt; 3 seconds).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226213"/>
                  </a:ext>
                </a:extLst>
              </a:tr>
              <a:tr h="646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Unimodal systems achieve comparatively lower accuracy and robustness.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Achieved 96.94% accuracy and 0.9995 AUC-ROC using multimodal cross-modal fusion.</a:t>
                      </a:r>
                    </a:p>
                  </a:txBody>
                  <a:tcPr marL="83680" marR="83680" marT="41840" marB="418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246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0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E7D6-03BF-ABD4-5963-0B5933A50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2E241FF9-5D2F-1BC3-DBC2-17F24C9AB970}"/>
              </a:ext>
            </a:extLst>
          </p:cNvPr>
          <p:cNvSpPr txBox="1"/>
          <p:nvPr/>
        </p:nvSpPr>
        <p:spPr>
          <a:xfrm>
            <a:off x="250476" y="265392"/>
            <a:ext cx="11053987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75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68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Objectives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15BEA23-F073-686E-2A38-52DB7FE8849D}"/>
              </a:ext>
            </a:extLst>
          </p:cNvPr>
          <p:cNvSpPr txBox="1"/>
          <p:nvPr/>
        </p:nvSpPr>
        <p:spPr>
          <a:xfrm>
            <a:off x="269283" y="836712"/>
            <a:ext cx="11193400" cy="5755896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Develop a handwriting analysis module using 16 clinical biomarkers and deep learning techniques.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Build a multi-path speech analysis system using XLS-R, MFCC, Mel-Spectrogram CNN, and acoustic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Design a Cross-Modal Attention Fusion Network (CMAFN) for integrating handwriting and speech modalities.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Apply patient-level stratified 5-fold cross-validation to ensure reliable and unbiased evaluation.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Implement anti-overfitting strategies such as dropout, label smoothing, and modality regularization.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Deploy the framework as a real-time Flask web application for non-invasive PD screening.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/>
              <a:t>Achieve high diagnostic accuracy and robust multimodal Parkinson’s Disease detection performance. </a:t>
            </a:r>
          </a:p>
          <a:p>
            <a:pPr marL="109917">
              <a:spcBef>
                <a:spcPts val="801"/>
              </a:spcBef>
            </a:pPr>
            <a:endParaRPr lang="en-US" sz="2667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C3F1BA4A-B791-6659-F2FD-2647DE6FC648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9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B12AD2-865E-7C9C-72CF-6E38897C7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8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77216-89C0-CB9D-AE24-E3E9229B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C2B8452B-B807-C124-7AEC-AE5ED6AE1FBE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C5E87E07-06AC-81A7-D8B2-979F958A9CDA}"/>
              </a:ext>
            </a:extLst>
          </p:cNvPr>
          <p:cNvSpPr txBox="1"/>
          <p:nvPr/>
        </p:nvSpPr>
        <p:spPr>
          <a:xfrm>
            <a:off x="279555" y="740701"/>
            <a:ext cx="6337555" cy="6040618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IN" sz="2800" b="1" dirty="0"/>
              <a:t>Handwriting Analysis Module Architecture</a:t>
            </a:r>
            <a:endParaRPr lang="en-US" sz="32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Input handwritten spiral and wave images are preprocessed and resized to 224×224 resolution.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OpenCV-based image processing techniques are used to extract 16 clinically relevant handwriting biomarkers.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Extracted biomarkers include stroke width, contour roughness, entropy, curvature statistics, fractal dimension, and Hu moments.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architecture uses a dual-pathway learning framework for robust feature extraction.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first pathway uses a Residual MLP model trained on engineered biomarker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second pathway uses EfficientNet-B0 with CBAM attention to learn deep visual handwriting patterns.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Outputs from both pathways are combined using Logistic Regression meta-stacking for final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proposed handwriting module achieves 93.6% accuracy with 0.985 AUC-ROC performance. </a:t>
            </a: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76ABF230-9CC5-BA19-052D-F9AD7EDF257F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10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3CA4B3-7F11-0967-B261-8D75F14384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BF6703-600F-1186-9AF4-817E369ED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109" y="1340862"/>
            <a:ext cx="5295335" cy="496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295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FEB38-D89F-010F-AABF-832763ECA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8FFB154F-2831-669D-988C-5F60C21A57CF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91D10B87-9370-FA70-D144-E224933583DA}"/>
              </a:ext>
            </a:extLst>
          </p:cNvPr>
          <p:cNvSpPr txBox="1"/>
          <p:nvPr/>
        </p:nvSpPr>
        <p:spPr>
          <a:xfrm>
            <a:off x="279555" y="740701"/>
            <a:ext cx="6337555" cy="5778086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IN" sz="2800" b="1" dirty="0"/>
              <a:t>Speech Analysis Module Architecture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r>
              <a:rPr lang="en-US" sz="3200" dirty="0"/>
              <a:t>Input speech audio recordings are standardized to 16 kHz with a maximum duration of 8 seconds.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r>
              <a:rPr lang="en-US" sz="3200" dirty="0"/>
              <a:t>The architecture uses a multi-pathway speech processing framework for extracting complementary vocal biomarkers.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32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DAF46DAE-7863-4AE4-26A2-DF8184AAF52E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11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232A9B-041C-DB4D-58D8-AE10D968B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1B5CD0-D78B-ABA1-3D57-406687D58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89479"/>
            <a:ext cx="5611008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62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50AC7-248A-DE20-77C5-115C7873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59DF8DFF-EF9E-3E45-F2FB-762BE67DBD4E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B6010D8-CAC4-9334-58B1-2E8C6C11F540}"/>
              </a:ext>
            </a:extLst>
          </p:cNvPr>
          <p:cNvSpPr txBox="1"/>
          <p:nvPr/>
        </p:nvSpPr>
        <p:spPr>
          <a:xfrm>
            <a:off x="279555" y="740701"/>
            <a:ext cx="6337555" cy="6040618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IN" sz="2800" b="1" dirty="0"/>
              <a:t>Speech Analysis Module Architecture</a:t>
            </a:r>
          </a:p>
          <a:p>
            <a:pPr>
              <a:spcBef>
                <a:spcPts val="733"/>
              </a:spcBef>
              <a:buClr>
                <a:srgbClr val="C00000"/>
              </a:buClr>
            </a:pPr>
            <a:endParaRPr lang="en-US" sz="3200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D38A44C6-B786-02FF-2B04-A9F6FFBFF1A5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12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9627C8-EA16-076E-FF6E-9137DB821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A96511-FEF9-A035-9B35-CB171FE9AC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084" y="1112526"/>
            <a:ext cx="5214729" cy="500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89332-D921-3BFE-A1C6-4CDA73701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C9DF74D6-8542-66F4-E5C8-36EC5552BBBE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D592292-8B68-0429-6562-4780C7DA3939}"/>
              </a:ext>
            </a:extLst>
          </p:cNvPr>
          <p:cNvSpPr txBox="1"/>
          <p:nvPr/>
        </p:nvSpPr>
        <p:spPr>
          <a:xfrm>
            <a:off x="29156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Components / Features / Modules</a:t>
            </a:r>
          </a:p>
          <a:p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471D65F0-7C33-1A96-D35E-3C9EDA24150A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13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C0F54D-98A0-7154-F3DB-CEA97F35E6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31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0AD02-BE5E-1467-2150-90B5D7403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AFE7C81F-6E58-2367-107E-6694BBFC4019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Proposed Solution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9C105956-1DE0-D7E6-B955-48A1A17A560C}"/>
              </a:ext>
            </a:extLst>
          </p:cNvPr>
          <p:cNvSpPr txBox="1"/>
          <p:nvPr/>
        </p:nvSpPr>
        <p:spPr>
          <a:xfrm>
            <a:off x="29156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 / Technologies, Frameworks, and Tools Used</a:t>
            </a: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F4BC6724-9707-184F-3066-39F40243A6B0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14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15297C-41A1-D3DE-E0E5-215AC0FFA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501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92C97-F36E-BCB4-699E-2D8162180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2160046-EB52-CD90-37C0-AFB11476B9CB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</a:t>
            </a:r>
            <a:br>
              <a:rPr lang="en-US" sz="7066" b="1" spc="-1" dirty="0">
                <a:solidFill>
                  <a:srgbClr val="8A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8A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7F3FF00A-8B20-B862-1391-CAE97E4165AE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Descriptions / Input – Output Descriptions</a:t>
            </a: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64EDF79D-8D5B-6AFF-0EA3-42D35D8BD3BA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15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629E7A-873F-C14D-0B20-4F447B950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89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7A995-01EF-3BFB-7823-ADBBEBB2F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538C986-A499-4BC7-0FC4-41C7F2F0E21A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B2CA8E46-881A-8416-8683-D5ED614CAA5C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 Descriptions (if any) / Initial Conditions</a:t>
            </a:r>
          </a:p>
          <a:p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F31D5F8-9576-A840-BF26-6AA4B120CB3B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16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341B09-4214-E675-25C5-C90970731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369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36590-130F-3A1D-795E-8AFFC2DA4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92F14393-9A37-2D02-0344-78D9F6E689B1}"/>
              </a:ext>
            </a:extLst>
          </p:cNvPr>
          <p:cNvSpPr txBox="1"/>
          <p:nvPr/>
        </p:nvSpPr>
        <p:spPr>
          <a:xfrm>
            <a:off x="279555" y="76681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 fontScale="40000" lnSpcReduction="20000"/>
          </a:bodyPr>
          <a:lstStyle/>
          <a:p>
            <a:pPr>
              <a:lnSpc>
                <a:spcPct val="100000"/>
              </a:lnSpc>
            </a:pPr>
            <a:br>
              <a:rPr sz="2400" dirty="0"/>
            </a:br>
            <a:r>
              <a:rPr lang="en-US" sz="7866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Simulation and Results </a:t>
            </a:r>
            <a:br>
              <a:rPr lang="en-US" sz="7066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7066" b="1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E49C05A0-2C97-2541-4E28-44A122580ED2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Gill Sans MT"/>
              </a:rPr>
              <a:t> </a:t>
            </a: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 Outcomes ( Tables / Figures / User Interface Snaps)</a:t>
            </a: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8EC59059-43FC-16C5-5641-AD3BDB705205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17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CCC750-5D7C-122E-E515-2121CE9DC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66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40B70-1216-02D6-262F-052A2F4E1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>
            <a:extLst>
              <a:ext uri="{FF2B5EF4-FFF2-40B4-BE49-F238E27FC236}">
                <a16:creationId xmlns:a16="http://schemas.microsoft.com/office/drawing/2014/main" id="{B60AF336-44CE-7247-0B45-79090645D009}"/>
              </a:ext>
            </a:extLst>
          </p:cNvPr>
          <p:cNvSpPr txBox="1"/>
          <p:nvPr/>
        </p:nvSpPr>
        <p:spPr>
          <a:xfrm>
            <a:off x="239349" y="-57612"/>
            <a:ext cx="11053987" cy="979439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8A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US" sz="7066" b="1" spc="-1" dirty="0">
              <a:solidFill>
                <a:srgbClr val="8A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TextShape 2">
            <a:extLst>
              <a:ext uri="{FF2B5EF4-FFF2-40B4-BE49-F238E27FC236}">
                <a16:creationId xmlns:a16="http://schemas.microsoft.com/office/drawing/2014/main" id="{04B85FD5-3FAE-79AB-5054-FA07D62206A0}"/>
              </a:ext>
            </a:extLst>
          </p:cNvPr>
          <p:cNvSpPr txBox="1"/>
          <p:nvPr/>
        </p:nvSpPr>
        <p:spPr>
          <a:xfrm>
            <a:off x="305820" y="740701"/>
            <a:ext cx="11193400" cy="481268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>
            <a:noAutofit/>
          </a:bodyPr>
          <a:lstStyle/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 Findings </a:t>
            </a: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Limitations</a:t>
            </a: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endParaRPr lang="en-US" sz="2667" b="1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84710" indent="-457189">
              <a:spcBef>
                <a:spcPts val="733"/>
              </a:spcBef>
              <a:buClr>
                <a:srgbClr val="C00000"/>
              </a:buClr>
              <a:buFont typeface="Wingdings" panose="05000000000000000000" pitchFamily="2" charset="2"/>
              <a:buChar char="q"/>
            </a:pPr>
            <a:r>
              <a:rPr lang="en-US" sz="2667" b="1" spc="-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Future Directions</a:t>
            </a: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189" indent="-457189">
              <a:buFont typeface="Wingdings" panose="05000000000000000000" pitchFamily="2" charset="2"/>
              <a:buChar char="q"/>
            </a:pP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36627">
              <a:spcBef>
                <a:spcPts val="733"/>
              </a:spcBef>
            </a:pP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9917">
              <a:spcBef>
                <a:spcPts val="801"/>
              </a:spcBef>
            </a:pPr>
            <a:endParaRPr lang="en-US" sz="3200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TextShape 3">
            <a:extLst>
              <a:ext uri="{FF2B5EF4-FFF2-40B4-BE49-F238E27FC236}">
                <a16:creationId xmlns:a16="http://schemas.microsoft.com/office/drawing/2014/main" id="{C0F35EE9-6632-A4B6-2276-B6EF73DD62FE}"/>
              </a:ext>
            </a:extLst>
          </p:cNvPr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18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17C302-E233-3B61-E0B1-D2E6140F2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75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17" y="158727"/>
            <a:ext cx="11244488" cy="738664"/>
          </a:xfrm>
        </p:spPr>
        <p:txBody>
          <a:bodyPr/>
          <a:lstStyle/>
          <a:p>
            <a:r>
              <a:rPr lang="en-IN" sz="3200" b="1" spc="-1" dirty="0">
                <a:solidFill>
                  <a:srgbClr val="57231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lang="en-US" sz="3200" b="1" spc="-1" dirty="0">
              <a:solidFill>
                <a:srgbClr val="572314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224417" y="980728"/>
            <a:ext cx="11632223" cy="4896544"/>
          </a:xfrm>
        </p:spPr>
        <p:txBody>
          <a:bodyPr/>
          <a:lstStyle/>
          <a:p>
            <a:pPr>
              <a:buClr>
                <a:srgbClr val="C00000"/>
              </a:buClr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APA format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358C6-30AF-91C7-9A73-158A41913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2437" y="160201"/>
            <a:ext cx="2035376" cy="5166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914240" y="274680"/>
            <a:ext cx="9996960" cy="114264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ctr">
            <a:noAutofit/>
          </a:bodyPr>
          <a:lstStyle/>
          <a:p>
            <a:endParaRPr lang="en-US" sz="2400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11484960" y="6305400"/>
            <a:ext cx="609120" cy="475920"/>
          </a:xfrm>
          <a:prstGeom prst="rect">
            <a:avLst/>
          </a:prstGeom>
          <a:noFill/>
          <a:ln>
            <a:noFill/>
          </a:ln>
        </p:spPr>
        <p:txBody>
          <a:bodyPr lIns="120000" tIns="60000" rIns="120000" bIns="60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600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20</a:t>
            </a:fld>
            <a:endParaRPr lang="en-IN" sz="1600" spc="-1">
              <a:latin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CBCE0-B505-3CFD-B630-DF11CC080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674" y="2123332"/>
            <a:ext cx="5856652" cy="2611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983</Words>
  <Application>Microsoft Office PowerPoint</Application>
  <PresentationFormat>Widescreen</PresentationFormat>
  <Paragraphs>152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Arial Black</vt:lpstr>
      <vt:lpstr>Arial Narrow</vt:lpstr>
      <vt:lpstr>Bebas Neue</vt:lpstr>
      <vt:lpstr>Calibri</vt:lpstr>
      <vt:lpstr>Calibri Light</vt:lpstr>
      <vt:lpstr>Gill Sans MT</vt:lpstr>
      <vt:lpstr>Quicksand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Samuka Mohanty</dc:creator>
  <cp:lastModifiedBy>tanguturi venkata  thanuj</cp:lastModifiedBy>
  <cp:revision>7</cp:revision>
  <dcterms:created xsi:type="dcterms:W3CDTF">2026-05-03T04:16:34Z</dcterms:created>
  <dcterms:modified xsi:type="dcterms:W3CDTF">2026-05-06T06:13:23Z</dcterms:modified>
</cp:coreProperties>
</file>