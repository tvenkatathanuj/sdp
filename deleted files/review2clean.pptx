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t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64592"/>
            <a:ext cx="274320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Design Project Review-2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Parkinson's Disease Detection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Cross-Modal Attention Fusion of Handwriting and Speech Biomarkers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2735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Rajasekhar Boddu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Assistant Professor, Dept. of CSE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0" y="32735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Tanguturi Venkata Thanuj (22BCE20003)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 Krishna Chaitanya (22BCE7359)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Pathakuntla Narendar Reddy (22BCE7707)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(Module A: Handwriting, Module B: Speech, Module C: CMAFN)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Experimental Setup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&amp; Web App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spcAft>
                <a:spcPts val="600"/>
              </a:spcAft>
            </a:pPr>
            <a:r>
              <a:rPr lang="en-IN" sz="1400" dirty="0"/>
              <a:t>Parkinson's disease (PD) is a progressive neurodegenerative disorder often diagnosed late. This work proposes a multimodal deep learning framework fusing handwriting and speech biomarkers via a Cross-Modal Attention Fusion Network (CMAFN). Module A uses 16 spatial biomarkers with EfficientNet-B0 (~93.6% accuracy); Module B combines XLS-R, Mel-spectrogram CNN, MFCC, and </a:t>
            </a:r>
            <a:r>
              <a:rPr lang="en-IN" sz="1400" dirty="0" err="1"/>
              <a:t>Praat</a:t>
            </a:r>
            <a:r>
              <a:rPr lang="en-IN" sz="1400" dirty="0"/>
              <a:t> features (~91.7% accuracy); Module C (CMAFN) fuses both modalities using bidirectional Transformer cross-attention and a Gated Multimodal Unit (GMU), achieving 96.94% accuracy and 0.9995 AUC-ROC. Evaluated with patient-level 5-fold cross-validation, the system is deployed as a Flask web app with real-time CPU inference under 3 seconds.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disease (PD) affects ~10 million people worldwide and is the second most common neurodegenerative disorder after Alzheimer's disease.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Diagnosis: ~60–80% of dopaminergic neurons are already lost before motor symptoms become clinically observable.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Tests: Neuroimaging (SPECT/PET) and specialist assessments are expensive and not widely accessible in low-resource settings.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Scales: Clinical rating scales (UPDRS, H&amp;Y) vary across examiners; early-stage sensitivity is limited.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Access: Remote and under-resourced settings lack specialized neurologist access for early PD screening.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 multimodal deep learning framework using non-invasive handwriting and speech biomarkers, deployed as a real-time web application.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dual-pathway handwriting model combining 16 engineered spatial biomarkers (MLP) with raw image learning (EfficientNet-B0 + CBAM attention) using Logistic Regression meta-learner stacking.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multi-pathway speech engine combining XLS-R self-supervised representations (BiLSTM) with Mel-spectrogram CNN, MFCC, and Praat acoustic voice-quality measures fused via multi-head cross-attention.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CMAFN Fusion Network using Transformer-based bidirectional cross-attention (HW↔Speech) and a Gated Multimodal Unit (GMU) to learn complementary interactions across motor and voice biomarkers.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Flask web application with interactive handwriting and audio inputs; CPU-friendly inference (&lt;3s); INT8 quantized model (~85 MB); patient-level 5-fold cross-validation.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Handwriting-Based PD Detection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677964"/>
              </p:ext>
            </p:extLst>
          </p:nvPr>
        </p:nvGraphicFramePr>
        <p:xfrm>
          <a:off x="274320" y="777240"/>
          <a:ext cx="7680960" cy="427939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PD Detection using DL on Spiral Drawings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+ Transfer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NewHandPD (204)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 Handwriting Analysis for PD Diagnosis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EfficientNet-B3 + Augmentation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(450)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 for PD Detection from Drawings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PaHaW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Deep Learning for PD Screening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+ VGG + Inception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(600)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GAN-Augmented DL for Micrographia Detection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StyleGAN2 + DenseNet121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Synth+Real (800)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Attention-Based CNN for Spiral Drawing Analysis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+ Spatial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NewHandPD + PaHaW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Learning for PD Severity Assessment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MTL-CNN (Classify + Regress)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(380)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AI for Handwriting-Based PD Detection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ResNet34 + GradCAM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NewHandPD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Speech-Based PD Detection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7680960" cy="4279392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on Voice Recordings for PD Diagnosis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1D-CNN on MFCC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PC-GITA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Transformer-Based Speech Analysis for Parkinson's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Transformer + Acoustic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 PD 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Hybrid for PD Voice Analysis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 + CNN on Spectrograms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mPower (1,200)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Multi-Feature Fusion for PD Speech Detection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on 132 Acoustic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Sakar 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Mel-Spectrogram CNN for Dysarthria Detection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on Mel-Spectrograms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(650)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Wav2Vec 2.0 Fine-Tuning for PD Detection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Wav2Vec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Jitter-Shimmer Analysis with Deep Neural Networks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Connected DNN on Voice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PC-GITA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Capsule Networks for PD Voice Classification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CapsNet on MFCC + Prosody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mPower + PC-GITA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Multi-Modal &amp; Recent Approaches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7680960" cy="4279392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PD Detection: Gait + Speech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Fusion CNN + 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Multi-Modal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Handwriting + MRI Fusion for PD Diagnosis (2022)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Fusion ResNet + 3D-CNN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Multi-Modal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+ Facial Expression Analysis for PD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Attention-Based Fusion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Video+Audio (320 pts)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Triple-Modal: Gait + Speech + Handwriting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Fusion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(280 subj)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Meta-Learning for Multi-Modal PD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MAML on Speech + Handwriting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Datasets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Neural Network for Multi-Feature PD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on Feature 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Clinical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 for PD Handwriting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ResNet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(1,500)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CMAFN: Handwriting + Speech Fusion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 Cross-Attn + GMU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NewHandPD + Italian 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 — Handwriting: Spiral/Wave drawings (224×224 px) captured via consumer devices.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Handwriting Analysis: 16 spatial biomarkers (MLP) + EfficientNet-B0 + CBAM → Logistic Regression meta-learner. Accuracy ≈ 93.6%, AUC 0.985.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 — Speech Audio: 16 kHz recordings, &lt; 8 seconds, standardized and padded/trimmed.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Speech Analysis: XLS-R BiLSTM + Mel-spectrogram CNN + MFCC + Praat → Multi-head cross-attention → Ridge LR stacking. Accuracy ≈ 91.7%, AUC 0.971.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CMAFN Fusion: Bidirectional Transformer cross-attention (HW↔Speech) + Gated Multimodal Unit (GMU) + MC Dropout. Accuracy = 96.94%, AUC 0.9995.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PD Risk score (Low / Moderate / High) via Flask web app with real-time CPU inference &lt; 3 seconds.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Module A: Handwriting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Spiral and Wave drawings (224×224 px) from the NewHandPD dataset — 3,264 images, balanced PD/HC.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Spatial Biomarkers via OpenCV: Stroke width mean/std, width variability, curvature mean, direction changes, contour roughness, connected component density, ink density, edge density, entropy, fractal dimension, Hu moments (1–7).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Path: Fully connected neural network on 16 engineered biomarkers — captures fine motor degradation (micrographia, tremor).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Path: EfficientNet-B0 with CBAM spatial attention for raw image feature extraction.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Meta-Learner: Logistic Regression stacking of MLP + CNN predictions.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~93.57% accuracy, AUC 0.985. Patient-level stratified 5-fold CV — no data leakage.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Module B: Speech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Italian Parkinson's Voice &amp; Speech dataset — 831 recordings, 61 unique patients, standardized to 16 kHz, padded/trimmed to &lt; 8 seconds.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1 — XLS-R + BiLSTM: Self-supervised wav2vec 2.0 multilingual (300M parameters) with attentive pooling + BiLSTM for phonetic, prosodic and articulation patterns.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2 — Mel-Spectrogram CNN: ResNet-based 2D CNN on log-mel spectrogram — captures spectral energy distribution over time.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3 — MFCC + Derivatives: 13–40 Mel-Frequency Cepstral Coefficients + 1st/2nd delta features with statistical descriptors per frame.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4 — Praat Acoustic: Jitter, Shimmer, HNR, NHR, DUV — clinically established dysarthria and hypophonia markers.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Fusion: Multi-head cross-attention → Ridge Logistic Regression stacking. Result: ~91.70% accuracy, AUC 0.971.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Module C: CMAFN Fusion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Encoders: EfficientNet-B4 for handwriting (projected 512→256-d); XLS-R 300M for speech (projected 960→256-d).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Cross-Attention: HW attends to Speech and Speech attends to HW simultaneously — each modality guides the other's feature selection via Transformer multi-head attention.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Multimodal Unit (GMU): Learnable sigmoid gate dynamically balances handwriting and speech embedding contributions — prevents one modality from dominating.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Dropout: Each modality randomly masked (p=0.2) during training — model stays robust even when one input is missing at inference.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Dropout: Monte Carlo Dropout at inference provides calibrated confidence scores for clinical decision support.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96.94% accuracy, AUC 0.9995 — +3.37% gain over best unimodal. Patient-level stratified 5-fold CV (no data leakage).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Dataset: NewHandPD — 3,264 images (1,632 HC + 1,632 PD), Spiral &amp; Wave drawings. Input: 224×224 (HW), 336×336 (fusion). 16 spatial biomarkers via OpenCV.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Dataset: Italian Parkinson's Voice &amp; Speech (IEEE DataPort) — 831 recordings, 61 unique patients. Standardized to 16 kHz, &lt; 8s. Patient-level group splits — no speaker leakage.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Schedule: AdamW (LR: 3e-5 to 5e-5), OneCycleLR cosine annealing, gradient clipping (max norm 1.0), early stopping (patience 10–12).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Regularization: Focal Loss (α=0.5–0.75, γ=2.0–3.0), label smoothing, modality dropout for fusion robustness.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— Images: flip, rotation ±10°, brightness jitter, Mixup, TTA (7 transforms). Audio: SpecAugment, VTLP, TTA (5×).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Stack: RF, SVM, GBM, XGBoost, LightGBM. SMOTE oversampling. PCA (99.5–99.9%). Meta-learner: Ridge LR stacking.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(Handwriting): ~93.57% accuracy, AUC 0.985 — MLP (16 biomarkers) + EfficientNet-B0 (CBAM), Logistic Regression meta-learner.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(Speech): ~91.70% accuracy, AUC 0.971 — XLS-R BiLSTM + Mel CNN + MFCC + Praat, multi-head cross-attention + Ridge LR stacking.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(CMAFN Fusion): 96.94% accuracy, AUC 0.9995 — Bidirectional cross-attention + GMU gating. +3.37% over best unimodal.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Balanced Accuracy (CMAFN): Fold 1: 99.10% | Fold 2: 96.40% | Fold 3: 99.46% | Fold 4: 99.82% | Fold 5: 99.82%. Mean ± Std: 98.92% ± 1.29%.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fold consistency validates generalization under patient-level grouping — no data leakage across all experiments.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CMAFN outperforms all existing multimodal approaches reviewed in literature on comparable datasets.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16-Feature Handwriting Biomarker Framework: Extracts clinically relevant spatial cues — stroke variability, roughness, entropy, fractal dimension, Hu moments, curvature, component density — providing interpretable motor impairment signals.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Speech Pipeline (DL + Classical ML): Combines XLS-R representations with Mel-spectrogram CNN, MFCC, and Praat acoustic measures, fused via multi-head cross-attention and stacked with Ridge Logistic Regression.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Attention Fusion Network (CMAFN): Novel bidirectional Transformer cross-attention (HW↔Speech) + Gated Multimodal Unit (GMU) + modality dropout for complementary motor and vocal biomarker learning.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End-to-End Web Application: Flask-based real-time screening app — CPU-friendly (&lt;3s inference, ~85 MB INT8 quantized model) — patient-level stratified CV, no data leakage.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improves screening: Fusing handwriting and speech via CMAFN yields 96.94% accuracy and 0.9995 AUC-ROC, outperforming both unimodal modules.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biomarkers work synergistically: Handwriting captures fine motor impairment (micrographia, tremor cues); speech captures voice quality degradation (jitter, shimmer, dysarthria). Together they provide richer diagnostic signals.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CMAFN enables SOTA multimodal fusion: Transformer-based bidirectional cross-attention models how handwriting and speech features inform each other. GMU gating improves over late/early fusion baselines.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clinical and remote workflows: Non-invasive inputs via consumer hardware. Real-time Flask web app with &lt;3s CPU inference. Patient-level stratified 5-fold CV ensures clinically valid performance estimates.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Biomarkers: Add gait analysis (IMU sensors), wearable data, and eye-tracking signals as additional non-invasive modalities.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Monitoring: Track disease progression over time and support staging beyond binary PD/HC classification using repeated measures.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Learning: Multi-center training while keeping patient data local — enables hospital collaboration without sharing raw data.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(XAI): Integrate attention map visualization and Grad-CAM to highlight which handwriting/speech features drive predictions for clinician trust.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Deployment: TFLite optimization for on-device real-time screening with low-latency offline inference on mobile devices.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Speech: Evaluate cross-language generalization beyond the Italian dataset for broader demographic applicability.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Pereira et al., "Handwriting dynamics assessment for early identification of Parkinson's disease," Artificial Intelligence in Medicine, 2018.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Diaz et al., "A transfer learning approach with MobileNetV2 for Parkinson's disease detection using hand drawings," Expert Systems with Applications, 2021.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Baevski et al., "wav2vec 2.0: A framework for self-supervised learning of speech representations," NeurIPS, 2020.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Conneau et al., "Unsupervised cross-lingual representation learning for speech recognition," INTERSPEECH, 2021. (XLS-R)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Park et al., "SpecAugment: A simple data augmentation method for automatic speech recognition," INTERSPEECH, 2019.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Kindly follow the same IEEE reference format for all reference papers.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95604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t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"/>
            <a:ext cx="274320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happy to discuss methodology, datasets, and deployment details.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Rajasekhar Boddu — Asst. Professor, CSE, VIT-AP University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12724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Tanguturi Venkata Thanuj (22BCE20003)  •  venkata.22bce20003@vitapstudent.ac.in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 Krishna Chaitanya (22BCE7359)  •  krishna.22bce7359@vitapstudent.ac.in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Pathakuntla Narendar Reddy (22BCE7707)  •  narendar.22bce7707@vitapstudent.ac.in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Accuracy: 96.94%  |  AUC-ROC: 0.9995  |  Patient-level 5-fold CV  |  Inference: &lt;3s (CPU)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2570</Words>
  <Application>Microsoft Office PowerPoint</Application>
  <PresentationFormat>On-screen Show (16:9)</PresentationFormat>
  <Paragraphs>286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Parkinson's Disease Detection</dc:title>
  <dc:subject>PptxGenJS Presentation</dc:subject>
  <dc:creator>PptxGenJS</dc:creator>
  <cp:lastModifiedBy>tanguturi venkata  thanuj</cp:lastModifiedBy>
  <cp:revision>4</cp:revision>
  <dcterms:created xsi:type="dcterms:W3CDTF">2026-03-26T11:53:17Z</dcterms:created>
  <dcterms:modified xsi:type="dcterms:W3CDTF">2026-03-26T12:05:53Z</dcterms:modified>
</cp:coreProperties>
</file>