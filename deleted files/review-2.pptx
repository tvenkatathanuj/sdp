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B2A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2A6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Handwriting
(Module A)</c:v>
                  </c:pt>
                  <c:pt idx="1">
                    <c:v>Speech
(Module B)</c:v>
                  </c:pt>
                  <c:pt idx="2">
                    <c:v>CMAFN Fusion
(Module C)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93.57</c:v>
                </c:pt>
                <c:pt idx="1">
                  <c:v>91.7</c:v>
                </c:pt>
                <c:pt idx="2">
                  <c:v>96.94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8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3F4F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173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6460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0" y="109728"/>
            <a:ext cx="9144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92440" y="292608"/>
            <a:ext cx="91440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0" y="475488"/>
            <a:ext cx="91440" cy="40233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9144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VIT-AP UNIVERSITY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84048" y="45720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67665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Design Project Review - 2  |  Dept. of CSE  |  Amaravati, Andhra Pradesh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88696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2024-25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15727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Parkinson's Disease Detection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2926080" y="2267712"/>
            <a:ext cx="3291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34086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Cross-Modal Attention Fusion of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5760" y="26791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Handwriting and Speech Biomarkers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20040" y="3127248"/>
            <a:ext cx="2743200" cy="65836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127248"/>
            <a:ext cx="2743200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1638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Handwriting Biomarkers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11480" y="341985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FBF1"/>
                </a:solidFill>
              </a:rPr>
              <a:t>Spiral / Wave + 16 spatial features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46120" y="3127248"/>
            <a:ext cx="27432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3127248"/>
            <a:ext cx="2743200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1638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Speech Biomarkers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337560" y="341985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FBF1"/>
                </a:solidFill>
              </a:rPr>
              <a:t>XLS-R + MFCC + Praat acoustics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72200" y="3127248"/>
            <a:ext cx="2743200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3127248"/>
            <a:ext cx="2743200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31638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CMAFN Fusion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63640" y="341985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FBF1"/>
                </a:solidFill>
              </a:rPr>
              <a:t>Cross-attention + GMU + Web App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3913632"/>
            <a:ext cx="3931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913632"/>
            <a:ext cx="54864" cy="84124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950208"/>
            <a:ext cx="3703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B7280"/>
                </a:solidFill>
              </a:rPr>
              <a:t>Guide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200" y="4133088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6F"/>
                </a:solidFill>
              </a:rPr>
              <a:t>Dr. Rajasekhar Boddu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4352544"/>
            <a:ext cx="3703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Assistant Professor, Dept. of CSE, VIT-AP University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26280" y="3913632"/>
            <a:ext cx="4297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26280" y="3913632"/>
            <a:ext cx="54864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3950208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B7280"/>
                </a:solidFill>
              </a:rPr>
              <a:t>Presented by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663440" y="411480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A6F"/>
                </a:solidFill>
              </a:rPr>
              <a:t>T. V. Thanuj (22BCE20003)   K. K. Chaitanya (22BCE7359)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63440" y="4315968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A6F"/>
                </a:solidFill>
              </a:rPr>
              <a:t>P. Narendar Reddy (22BCE7707)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74320" y="493776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VIT-AP  |  CSE  |  Multimodal Parkinson's Disease Detection using Cross-Modal Attention Fusion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182880" cy="320040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64408"/>
            <a:ext cx="182880" cy="10972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361688"/>
            <a:ext cx="182880" cy="7818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4008"/>
            <a:ext cx="182880" cy="320040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264408"/>
            <a:ext cx="182880" cy="10972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361688"/>
            <a:ext cx="182880" cy="7818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9144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1D4ED8"/>
                </a:solidFill>
              </a:rPr>
              <a:t>CONTENTS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92608" y="256032"/>
            <a:ext cx="384048" cy="34747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25603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6384" y="201168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292608" y="960120"/>
            <a:ext cx="4160520" cy="84124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2608" y="960120"/>
            <a:ext cx="347472" cy="84124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123444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106984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6F"/>
                </a:solidFill>
              </a:rPr>
              <a:t>Abstract &amp; Introduction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132588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Problem, motivation, and approach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92608" y="1947672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92608" y="1947672"/>
            <a:ext cx="347472" cy="84124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2221992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205740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6F"/>
                </a:solidFill>
              </a:rPr>
              <a:t>Literature Review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231343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25 existing systems (handwriting, speech, multimodal)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92608" y="2935224"/>
            <a:ext cx="4160520" cy="84124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92608" y="2935224"/>
            <a:ext cx="347472" cy="84124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3209544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304495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6F"/>
                </a:solidFill>
              </a:rPr>
              <a:t>System Architecture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330098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Three-module end-to-end pipeline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92608" y="3922776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922776"/>
            <a:ext cx="347472" cy="84124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" y="4197096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" y="403250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6F"/>
                </a:solidFill>
              </a:rPr>
              <a:t>Methodology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" y="428853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Module A: Handwriting • Module B: Speech • Module C: CMAFN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27448" y="960120"/>
            <a:ext cx="4160520" cy="84124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27448" y="960120"/>
            <a:ext cx="34747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27448" y="123444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106984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6F"/>
                </a:solidFill>
              </a:rPr>
              <a:t>Datasets &amp; Experimental Setup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66360" y="132588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3,264 images • 831 speech recordings • Patient-level CV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27448" y="1947672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27448" y="1947672"/>
            <a:ext cx="34747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27448" y="2221992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166360" y="205740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6F"/>
                </a:solidFill>
              </a:rPr>
              <a:t>Results &amp; Performance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166360" y="231343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Accuracy • AUC-ROC • Fold-level stability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27448" y="2935224"/>
            <a:ext cx="4160520" cy="84124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27448" y="2935224"/>
            <a:ext cx="34747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27448" y="3209544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166360" y="304495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6F"/>
                </a:solidFill>
              </a:rPr>
              <a:t>Key Contributions &amp; Web App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166360" y="330098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CMAFN fusion • Flask deployment • &lt;3s inference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27448" y="3922776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27448" y="3922776"/>
            <a:ext cx="34747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27448" y="4197096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08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166360" y="403250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6F"/>
                </a:solidFill>
              </a:rPr>
              <a:t>Conclusion &amp; Future Work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166360" y="428853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Multimodal gain • Roadmap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VIT-AP  •  Senior Design Project Review-2  •  Multimodal Parkinson's Disease Detection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182880" cy="320040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64408"/>
            <a:ext cx="182880" cy="10972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361688"/>
            <a:ext cx="182880" cy="7818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9144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1D4ED8"/>
                </a:solidFill>
              </a:rPr>
              <a:t>OVERVIEW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92608" y="256032"/>
            <a:ext cx="384048" cy="34747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25603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86384" y="201168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92608" y="914400"/>
            <a:ext cx="8577072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2608" y="914400"/>
            <a:ext cx="8577072" cy="6400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051560"/>
            <a:ext cx="8275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Parkinson's disease (PD) is a progressive neurodegenerative disorder where clinical diagnosis often occurs late, after significant dopaminergic neuron loss. This work proposes a multimodal deep learning framework for non-invasive PD screening by fusing handwriting and speech biomarkers through a novel Cross-Modal Attention Fusion Network (CMAFN). Module A analyzes spiral/wave drawings using 16 engineered spatial biomarkers combined with an EfficientNet-B0 CNN via a meta-learner ensemble, achieving ~93.6% accuracy. Module B processes short voice samples through four complementary pathways — XLS-R self-supervised embeddings, Mel-spectrogram CNN, MFCC, and Praat acoustic measures — fused by multi-head cross-attention, achieving ~91.7% accuracy. Module C (CMAFN) integrates both modalities via bidirectional Transformer cross-attention and a Gated Multimodal Unit (GMU), achieving 96.94% accuracy and 0.9995 AUC-ROC. All evaluation uses patient-level stratified 5-fold cross-validation to prevent data leakage. The system is deployed as a Flask web application supporting real-time inference in under 3 seconds on CPU, enabling practical, scalable, and non-invasive PD screening using consumer hardware.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92608" y="4343400"/>
            <a:ext cx="2057400" cy="530352"/>
          </a:xfrm>
          <a:prstGeom prst="rect">
            <a:avLst/>
          </a:prstGeom>
          <a:solidFill>
            <a:srgbClr val="0B2A6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437083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96.94%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2608" y="4626864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B4FC"/>
                </a:solidFill>
              </a:rPr>
              <a:t>Fusion Accuracy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41448" y="4343400"/>
            <a:ext cx="205740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41448" y="437083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0.9995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441448" y="4626864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B4FC"/>
                </a:solidFill>
              </a:rPr>
              <a:t>AUC-ROC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90288" y="4343400"/>
            <a:ext cx="2057400" cy="53035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0288" y="437083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A6F"/>
                </a:solidFill>
              </a:rPr>
              <a:t>3 Modules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90288" y="4626864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End-to-end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739128" y="4343400"/>
            <a:ext cx="2057400" cy="53035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39128" y="437083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A6F"/>
                </a:solidFill>
              </a:rPr>
              <a:t>5-fold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39128" y="4626864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Patient-level CV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VIT-AP  •  Senior Design Project Review-2  •  Multimodal Parkinson's Disease Detection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182880" cy="320040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64408"/>
            <a:ext cx="182880" cy="10972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361688"/>
            <a:ext cx="182880" cy="7818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9144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1D4ED8"/>
                </a:solidFill>
              </a:rPr>
              <a:t>CONTEXT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92608" y="256032"/>
            <a:ext cx="384048" cy="34747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25603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86384" y="201168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92608" y="914400"/>
            <a:ext cx="41605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2608" y="914400"/>
            <a:ext cx="4160520" cy="29260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941832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PROBLEM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1298448"/>
            <a:ext cx="347472" cy="685800"/>
          </a:xfrm>
          <a:prstGeom prst="rect">
            <a:avLst/>
          </a:prstGeom>
          <a:solidFill>
            <a:srgbClr val="DBEAFE"/>
          </a:solidFill>
          <a:ln w="6350">
            <a:solidFill>
              <a:srgbClr val="0B2A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49961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6F"/>
                </a:solidFill>
              </a:rPr>
              <a:t>01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1353312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A6F"/>
                </a:solidFill>
              </a:rPr>
              <a:t>Late Diagnosis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1609344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~60–80% of dopaminergic neurons are lost before motor symptoms become clinically observable.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4048" y="2167128"/>
            <a:ext cx="347472" cy="685800"/>
          </a:xfrm>
          <a:prstGeom prst="rect">
            <a:avLst/>
          </a:prstGeom>
          <a:solidFill>
            <a:srgbClr val="DBEAFE"/>
          </a:solidFill>
          <a:ln w="6350">
            <a:solidFill>
              <a:srgbClr val="0B2A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36829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6F"/>
                </a:solidFill>
              </a:rPr>
              <a:t>02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2221992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A6F"/>
                </a:solidFill>
              </a:rPr>
              <a:t>High-Cost Tests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2478024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Neuroimaging (SPECT/PET) and specialist assessments are expensive and not widely accessible.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4048" y="3035808"/>
            <a:ext cx="347472" cy="685800"/>
          </a:xfrm>
          <a:prstGeom prst="rect">
            <a:avLst/>
          </a:prstGeom>
          <a:solidFill>
            <a:srgbClr val="DBEAFE"/>
          </a:solidFill>
          <a:ln w="6350">
            <a:solidFill>
              <a:srgbClr val="0B2A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23697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6F"/>
                </a:solidFill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3090672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A6F"/>
                </a:solidFill>
              </a:rPr>
              <a:t>Subjective Scales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" y="3346704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Clinical rating scales (UPDRS, H&amp;Y) vary across examiners; early-stage sensitivity is limited.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84048" y="3904488"/>
            <a:ext cx="347472" cy="685800"/>
          </a:xfrm>
          <a:prstGeom prst="rect">
            <a:avLst/>
          </a:prstGeom>
          <a:solidFill>
            <a:srgbClr val="DBEAFE"/>
          </a:solidFill>
          <a:ln w="6350">
            <a:solidFill>
              <a:srgbClr val="0B2A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10565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6F"/>
                </a:solidFill>
              </a:rPr>
              <a:t>04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3959352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A6F"/>
                </a:solidFill>
              </a:rPr>
              <a:t>Limited Access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2960" y="4215384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Remote and under-resourced settings lack specialized neurologist access for early PD screening.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17720" y="914400"/>
            <a:ext cx="425196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914400"/>
            <a:ext cx="425196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941832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PROPOSED SOLUTION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1298448"/>
            <a:ext cx="347472" cy="685800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9961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HW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48072" y="1353312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</a:rPr>
              <a:t>Handwriting Biomarkers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148072" y="1609344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Spiral/wave drawings + 16 spatial features quantify fine motor degradation (micrographia, tremor cues).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09160" y="2167128"/>
            <a:ext cx="347472" cy="685800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236829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SP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48072" y="2221992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</a:rPr>
              <a:t>Speech Biomarkers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148072" y="2478024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XLS-R embeddings + MFCC + Praat measures capture dysarthria, jitter, shimmer, and hypophonia patterns.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09160" y="3035808"/>
            <a:ext cx="347472" cy="685800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323697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AI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48072" y="3090672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</a:rPr>
              <a:t>Cross-Modal Fusion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148072" y="3346704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CMAFN bidirectional Transformer cross-attention + Gated Multimodal Unit (GMU) learns complementary interactions.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09160" y="3904488"/>
            <a:ext cx="347472" cy="685800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410565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WB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148072" y="3959352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</a:rPr>
              <a:t>Deployable Web App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148072" y="4215384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Flask-based real-time screening; &lt;3s CPU inference; non-invasive; consumer hardware compatible.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VIT-AP  •  Senior Design Project Review-2  •  Multimodal Parkinson's Disease Detection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182880" cy="320040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64408"/>
            <a:ext cx="182880" cy="10972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361688"/>
            <a:ext cx="182880" cy="7818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9144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1D4ED8"/>
                </a:solidFill>
              </a:rPr>
              <a:t>PLAN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92608" y="256032"/>
            <a:ext cx="384048" cy="34747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25603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OBJ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6384" y="201168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92608" y="932688"/>
            <a:ext cx="8577072" cy="713232"/>
          </a:xfrm>
          <a:prstGeom prst="rect">
            <a:avLst/>
          </a:prstGeom>
          <a:solidFill>
            <a:srgbClr val="DBEAFE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2608" y="932688"/>
            <a:ext cx="457200" cy="71323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16128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9536" y="102412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6F"/>
                </a:solidFill>
              </a:rPr>
              <a:t>Handwriting Analyzer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9536" y="1280160"/>
            <a:ext cx="7818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Train a dual-pathway model combining 16 engineered spatial biomarkers (MLP) with raw image learning (EfficientNet-B0 + CBAM attention). Meta-learner: Logistic Regression stacking.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92608" y="1728216"/>
            <a:ext cx="8577072" cy="713232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92608" y="1728216"/>
            <a:ext cx="45720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1956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9536" y="181965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Multi-Pathway Speech Engine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9536" y="2075688"/>
            <a:ext cx="7818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Combine self-supervised XLS-R representations (BiLSTM) with Mel-spectrogram CNN, MFCC (+Δ), and Praat acoustic voice-quality measures. Fused via multi-head cross-attention.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92608" y="2523744"/>
            <a:ext cx="8577072" cy="713232"/>
          </a:xfrm>
          <a:prstGeom prst="rect">
            <a:avLst/>
          </a:prstGeom>
          <a:solidFill>
            <a:srgbClr val="DBEAFE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92608" y="2523744"/>
            <a:ext cx="457200" cy="71323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275234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9536" y="261518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6F"/>
                </a:solidFill>
              </a:rPr>
              <a:t>16 Spatial Biomarkers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9536" y="2871216"/>
            <a:ext cx="7818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Extract clinically relevant handwriting features: stroke width mean/std, curvature, direction changes, contour roughness, connected component density, ink density, entropy, fractal dimension, Hu moments.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92608" y="3319272"/>
            <a:ext cx="8577072" cy="713232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92608" y="3319272"/>
            <a:ext cx="45720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35478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59536" y="34107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CMAFN Fusion Network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9536" y="3666744"/>
            <a:ext cx="7818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Design Transformer-based bidirectional cross-attention (HW↔Speech) and a Gated Multimodal Unit (GMU) to learn complementary interactions across motor + voice biomarkers.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92608" y="4114800"/>
            <a:ext cx="8577072" cy="713232"/>
          </a:xfrm>
          <a:prstGeom prst="rect">
            <a:avLst/>
          </a:prstGeom>
          <a:solidFill>
            <a:srgbClr val="DBEAFE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92608" y="4114800"/>
            <a:ext cx="457200" cy="71323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" y="43434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59536" y="42062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6F"/>
                </a:solidFill>
              </a:rPr>
              <a:t>Real-Time Web Deployment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59536" y="4462272"/>
            <a:ext cx="7818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Deploy as a Flask web application with interactive handwriting and audio inputs; CPU-friendly inference (&lt;3s); INT8 quantized model (~85 MB); patient-level validation.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063240" y="969264"/>
            <a:ext cx="5486" cy="38862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VIT-AP  •  Senior Design Project Review-2  •  Multimodal Parkinson's Disease Detection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658368"/>
          </a:xfrm>
          <a:prstGeom prst="rect">
            <a:avLst/>
          </a:prstGeom>
          <a:solidFill>
            <a:srgbClr val="0B2252"/>
          </a:solidFill>
          <a:ln w="12700">
            <a:solidFill>
              <a:srgbClr val="0B22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658368"/>
            <a:ext cx="894283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0" y="10972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0D9488"/>
                </a:solidFill>
              </a:rPr>
              <a:t>TABLE 1: LITERATURE SURVEY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92608" y="54864"/>
            <a:ext cx="6217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91440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Systems: Handwriting-Based PD Detection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01168" y="704088"/>
            <a:ext cx="512064" cy="347472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704088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13232" y="704088"/>
            <a:ext cx="3054096" cy="347472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704088"/>
            <a:ext cx="29809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Title &amp; Year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767328" y="704088"/>
            <a:ext cx="2157984" cy="347472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22192" y="704088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Methodology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25312" y="704088"/>
            <a:ext cx="2048256" cy="347472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0176" y="704088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Dataset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973568" y="704088"/>
            <a:ext cx="969264" cy="347472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28432" y="704088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Acc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01168" y="1051560"/>
            <a:ext cx="8942832" cy="475488"/>
          </a:xfrm>
          <a:prstGeom prst="rect">
            <a:avLst/>
          </a:prstGeom>
          <a:solidFill>
            <a:srgbClr val="132242"/>
          </a:solidFill>
          <a:ln w="12700">
            <a:solidFill>
              <a:srgbClr val="1322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" y="1051560"/>
            <a:ext cx="512064" cy="475488"/>
          </a:xfrm>
          <a:prstGeom prst="rect">
            <a:avLst/>
          </a:prstGeom>
          <a:solidFill>
            <a:srgbClr val="0B2252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" y="1051560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68096" y="1088136"/>
            <a:ext cx="2999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Base Paper: Automated PD Detection using DL on Spiral Drawings (2023)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22192" y="1088136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ResNet50 + Transfer Learning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25312" y="1088136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NewHandPD (204 samples)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973568" y="1143000"/>
            <a:ext cx="969264" cy="292608"/>
          </a:xfrm>
          <a:prstGeom prst="rect">
            <a:avLst/>
          </a:prstGeom>
          <a:solidFill>
            <a:srgbClr val="052E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73568" y="1143000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87.2%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01168" y="1527048"/>
            <a:ext cx="8942832" cy="0"/>
          </a:xfrm>
          <a:prstGeom prst="line">
            <a:avLst/>
          </a:prstGeom>
          <a:noFill/>
          <a:ln w="6350">
            <a:solidFill>
              <a:srgbClr val="1E3A6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1168" y="1549908"/>
            <a:ext cx="8942832" cy="475488"/>
          </a:xfrm>
          <a:prstGeom prst="rect">
            <a:avLst/>
          </a:prstGeom>
          <a:solidFill>
            <a:srgbClr val="172A4E"/>
          </a:solidFill>
          <a:ln w="12700">
            <a:solidFill>
              <a:srgbClr val="172A4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1168" y="1549908"/>
            <a:ext cx="512064" cy="475488"/>
          </a:xfrm>
          <a:prstGeom prst="rect">
            <a:avLst/>
          </a:prstGeom>
          <a:solidFill>
            <a:srgbClr val="112040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" y="1549908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68096" y="1586484"/>
            <a:ext cx="2999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CNN-Based Handwriting Analysis for PD Diagnosis (2024)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22192" y="1586484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EfficientNet-B3 + Data Augmentation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25312" y="1586484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Custom (450 images)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973568" y="1641348"/>
            <a:ext cx="969264" cy="292608"/>
          </a:xfrm>
          <a:prstGeom prst="rect">
            <a:avLst/>
          </a:prstGeom>
          <a:solidFill>
            <a:srgbClr val="052E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73568" y="1641348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89.5%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01168" y="2025396"/>
            <a:ext cx="8942832" cy="0"/>
          </a:xfrm>
          <a:prstGeom prst="line">
            <a:avLst/>
          </a:prstGeom>
          <a:noFill/>
          <a:ln w="6350">
            <a:solidFill>
              <a:srgbClr val="1E3A6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1168" y="2048256"/>
            <a:ext cx="8942832" cy="475488"/>
          </a:xfrm>
          <a:prstGeom prst="rect">
            <a:avLst/>
          </a:prstGeom>
          <a:solidFill>
            <a:srgbClr val="132242"/>
          </a:solidFill>
          <a:ln w="12700">
            <a:solidFill>
              <a:srgbClr val="13224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1168" y="2048256"/>
            <a:ext cx="512064" cy="475488"/>
          </a:xfrm>
          <a:prstGeom prst="rect">
            <a:avLst/>
          </a:prstGeom>
          <a:solidFill>
            <a:srgbClr val="0B2252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1168" y="20482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68096" y="2084832"/>
            <a:ext cx="2999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Vision Transformer for Parkinson's Detection from Drawings (2023)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822192" y="2084832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ViT-Base with Fine-tuning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925312" y="2084832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PaHaW Dataset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973568" y="2139696"/>
            <a:ext cx="969264" cy="292608"/>
          </a:xfrm>
          <a:prstGeom prst="rect">
            <a:avLst/>
          </a:prstGeom>
          <a:solidFill>
            <a:srgbClr val="052E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73568" y="2139696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85.7%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01168" y="2523744"/>
            <a:ext cx="8942832" cy="0"/>
          </a:xfrm>
          <a:prstGeom prst="line">
            <a:avLst/>
          </a:prstGeom>
          <a:noFill/>
          <a:ln w="6350">
            <a:solidFill>
              <a:srgbClr val="1E3A6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01168" y="2546604"/>
            <a:ext cx="8942832" cy="475488"/>
          </a:xfrm>
          <a:prstGeom prst="rect">
            <a:avLst/>
          </a:prstGeom>
          <a:solidFill>
            <a:srgbClr val="172A4E"/>
          </a:solidFill>
          <a:ln w="12700">
            <a:solidFill>
              <a:srgbClr val="172A4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01168" y="2546604"/>
            <a:ext cx="512064" cy="475488"/>
          </a:xfrm>
          <a:prstGeom prst="rect">
            <a:avLst/>
          </a:prstGeom>
          <a:solidFill>
            <a:srgbClr val="112040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1168" y="2546604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4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68096" y="2583180"/>
            <a:ext cx="2999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Ensemble Deep Learning for PD Screening via Handwriting (2022)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822192" y="2583180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ResNet + VGG + Inception Ensemble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925312" y="2583180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Combined (600 samples)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973568" y="2638044"/>
            <a:ext cx="969264" cy="292608"/>
          </a:xfrm>
          <a:prstGeom prst="rect">
            <a:avLst/>
          </a:prstGeom>
          <a:solidFill>
            <a:srgbClr val="052E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73568" y="2638044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88.8%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01168" y="3022092"/>
            <a:ext cx="8942832" cy="0"/>
          </a:xfrm>
          <a:prstGeom prst="line">
            <a:avLst/>
          </a:prstGeom>
          <a:noFill/>
          <a:ln w="6350">
            <a:solidFill>
              <a:srgbClr val="1E3A6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01168" y="3044952"/>
            <a:ext cx="8942832" cy="475488"/>
          </a:xfrm>
          <a:prstGeom prst="rect">
            <a:avLst/>
          </a:prstGeom>
          <a:solidFill>
            <a:srgbClr val="132242"/>
          </a:solidFill>
          <a:ln w="12700">
            <a:solidFill>
              <a:srgbClr val="13224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01168" y="3044952"/>
            <a:ext cx="512064" cy="475488"/>
          </a:xfrm>
          <a:prstGeom prst="rect">
            <a:avLst/>
          </a:prstGeom>
          <a:solidFill>
            <a:srgbClr val="0B2252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01168" y="3044952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5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68096" y="3081528"/>
            <a:ext cx="2999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GAN-Augmented Deep Learning for Micrographia Detection (2023)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822192" y="3081528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StyleGAN2 + DenseNet121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925312" y="3081528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Synthetic + Real (800 imgs)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973568" y="3136392"/>
            <a:ext cx="969264" cy="292608"/>
          </a:xfrm>
          <a:prstGeom prst="rect">
            <a:avLst/>
          </a:prstGeom>
          <a:solidFill>
            <a:srgbClr val="052E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973568" y="3136392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86.4%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01168" y="3520440"/>
            <a:ext cx="8942832" cy="0"/>
          </a:xfrm>
          <a:prstGeom prst="line">
            <a:avLst/>
          </a:prstGeom>
          <a:noFill/>
          <a:ln w="6350">
            <a:solidFill>
              <a:srgbClr val="1E3A6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01168" y="3543300"/>
            <a:ext cx="8942832" cy="475488"/>
          </a:xfrm>
          <a:prstGeom prst="rect">
            <a:avLst/>
          </a:prstGeom>
          <a:solidFill>
            <a:srgbClr val="172A4E"/>
          </a:solidFill>
          <a:ln w="12700">
            <a:solidFill>
              <a:srgbClr val="172A4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01168" y="3543300"/>
            <a:ext cx="512064" cy="475488"/>
          </a:xfrm>
          <a:prstGeom prst="rect">
            <a:avLst/>
          </a:prstGeom>
          <a:solidFill>
            <a:srgbClr val="112040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01168" y="3543300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6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768096" y="3579876"/>
            <a:ext cx="2999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Attention-Based CNN for Spiral Drawing Analysis (2024)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3822192" y="3579876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Custom CNN with Spatial Attention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925312" y="3579876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NewHandPD + PaHaW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973568" y="3634740"/>
            <a:ext cx="969264" cy="292608"/>
          </a:xfrm>
          <a:prstGeom prst="rect">
            <a:avLst/>
          </a:prstGeom>
          <a:solidFill>
            <a:srgbClr val="052E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973568" y="3634740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90.1%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201168" y="4018788"/>
            <a:ext cx="8942832" cy="0"/>
          </a:xfrm>
          <a:prstGeom prst="line">
            <a:avLst/>
          </a:prstGeom>
          <a:noFill/>
          <a:ln w="6350">
            <a:solidFill>
              <a:srgbClr val="1E3A6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01168" y="4041648"/>
            <a:ext cx="8942832" cy="475488"/>
          </a:xfrm>
          <a:prstGeom prst="rect">
            <a:avLst/>
          </a:prstGeom>
          <a:solidFill>
            <a:srgbClr val="132242"/>
          </a:solidFill>
          <a:ln w="12700">
            <a:solidFill>
              <a:srgbClr val="13224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01168" y="4041648"/>
            <a:ext cx="512064" cy="475488"/>
          </a:xfrm>
          <a:prstGeom prst="rect">
            <a:avLst/>
          </a:prstGeom>
          <a:solidFill>
            <a:srgbClr val="0B2252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01168" y="4041648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7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768096" y="4078224"/>
            <a:ext cx="2999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Multi-Task Learning for PD Severity Assessment (2022)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3822192" y="4078224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MTL-CNN (Classification + Regression)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5925312" y="4078224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Clinical Dataset (380 samples)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7973568" y="4133088"/>
            <a:ext cx="969264" cy="292608"/>
          </a:xfrm>
          <a:prstGeom prst="rect">
            <a:avLst/>
          </a:prstGeom>
          <a:solidFill>
            <a:srgbClr val="052E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973568" y="4133088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84.6%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201168" y="4517136"/>
            <a:ext cx="8942832" cy="0"/>
          </a:xfrm>
          <a:prstGeom prst="line">
            <a:avLst/>
          </a:prstGeom>
          <a:noFill/>
          <a:ln w="6350">
            <a:solidFill>
              <a:srgbClr val="1E3A6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01168" y="4539996"/>
            <a:ext cx="8942832" cy="475488"/>
          </a:xfrm>
          <a:prstGeom prst="rect">
            <a:avLst/>
          </a:prstGeom>
          <a:solidFill>
            <a:srgbClr val="172A4E"/>
          </a:solidFill>
          <a:ln w="12700">
            <a:solidFill>
              <a:srgbClr val="172A4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01168" y="4539996"/>
            <a:ext cx="512064" cy="475488"/>
          </a:xfrm>
          <a:prstGeom prst="rect">
            <a:avLst/>
          </a:prstGeom>
          <a:solidFill>
            <a:srgbClr val="112040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01168" y="453999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8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768096" y="4576572"/>
            <a:ext cx="2999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Explainable AI for Handwriting-Based PD Detection (2023)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3822192" y="4576572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ResNet34 + GradCAM Visualization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5925312" y="4576572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NewHandPD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7973568" y="4631436"/>
            <a:ext cx="969264" cy="292608"/>
          </a:xfrm>
          <a:prstGeom prst="rect">
            <a:avLst/>
          </a:prstGeom>
          <a:solidFill>
            <a:srgbClr val="052E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973568" y="4631436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87.8%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201168" y="5015484"/>
            <a:ext cx="8942832" cy="0"/>
          </a:xfrm>
          <a:prstGeom prst="line">
            <a:avLst/>
          </a:prstGeom>
          <a:noFill/>
          <a:ln w="6350">
            <a:solidFill>
              <a:srgbClr val="1E3A6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13232" y="704088"/>
            <a:ext cx="0" cy="4123944"/>
          </a:xfrm>
          <a:prstGeom prst="line">
            <a:avLst/>
          </a:prstGeom>
          <a:noFill/>
          <a:ln w="6350">
            <a:solidFill>
              <a:srgbClr val="1E3A6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767328" y="704088"/>
            <a:ext cx="0" cy="4123944"/>
          </a:xfrm>
          <a:prstGeom prst="line">
            <a:avLst/>
          </a:prstGeom>
          <a:noFill/>
          <a:ln w="6350">
            <a:solidFill>
              <a:srgbClr val="1E3A6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925312" y="704088"/>
            <a:ext cx="0" cy="4123944"/>
          </a:xfrm>
          <a:prstGeom prst="line">
            <a:avLst/>
          </a:prstGeom>
          <a:noFill/>
          <a:ln w="6350">
            <a:solidFill>
              <a:srgbClr val="1E3A6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973568" y="704088"/>
            <a:ext cx="0" cy="4123944"/>
          </a:xfrm>
          <a:prstGeom prst="line">
            <a:avLst/>
          </a:prstGeom>
          <a:noFill/>
          <a:ln w="6350">
            <a:solidFill>
              <a:srgbClr val="1E3A6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56032" y="5001768"/>
            <a:ext cx="863193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6FA5"/>
                </a:solidFill>
              </a:rPr>
              <a:t>Slide 6  •  Multi-Modal Parkinson's Disease Detection System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658368"/>
          </a:xfrm>
          <a:prstGeom prst="rect">
            <a:avLst/>
          </a:prstGeom>
          <a:solidFill>
            <a:srgbClr val="062A2A"/>
          </a:solidFill>
          <a:ln w="12700">
            <a:solidFill>
              <a:srgbClr val="062A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658368"/>
            <a:ext cx="894283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0" y="10972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0D9488"/>
                </a:solidFill>
              </a:rPr>
              <a:t>TABLE 2: LITERATURE SURVEY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92608" y="54864"/>
            <a:ext cx="6217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91440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Systems: Speech-Based PD Detection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01168" y="704088"/>
            <a:ext cx="512064" cy="347472"/>
          </a:xfrm>
          <a:prstGeom prst="rect">
            <a:avLst/>
          </a:prstGeom>
          <a:solidFill>
            <a:srgbClr val="073B3B"/>
          </a:solidFill>
          <a:ln w="12700">
            <a:solidFill>
              <a:srgbClr val="073B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704088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13232" y="704088"/>
            <a:ext cx="3054096" cy="347472"/>
          </a:xfrm>
          <a:prstGeom prst="rect">
            <a:avLst/>
          </a:prstGeom>
          <a:solidFill>
            <a:srgbClr val="073B3B"/>
          </a:solidFill>
          <a:ln w="12700">
            <a:solidFill>
              <a:srgbClr val="073B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704088"/>
            <a:ext cx="29809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Title &amp; Year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767328" y="704088"/>
            <a:ext cx="2157984" cy="347472"/>
          </a:xfrm>
          <a:prstGeom prst="rect">
            <a:avLst/>
          </a:prstGeom>
          <a:solidFill>
            <a:srgbClr val="073B3B"/>
          </a:solidFill>
          <a:ln w="12700">
            <a:solidFill>
              <a:srgbClr val="073B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22192" y="704088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Methodology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25312" y="704088"/>
            <a:ext cx="2048256" cy="347472"/>
          </a:xfrm>
          <a:prstGeom prst="rect">
            <a:avLst/>
          </a:prstGeom>
          <a:solidFill>
            <a:srgbClr val="073B3B"/>
          </a:solidFill>
          <a:ln w="12700">
            <a:solidFill>
              <a:srgbClr val="073B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0176" y="704088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Dataset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973568" y="704088"/>
            <a:ext cx="969264" cy="347472"/>
          </a:xfrm>
          <a:prstGeom prst="rect">
            <a:avLst/>
          </a:prstGeom>
          <a:solidFill>
            <a:srgbClr val="073B3B"/>
          </a:solidFill>
          <a:ln w="12700">
            <a:solidFill>
              <a:srgbClr val="073B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28432" y="704088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Acc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01168" y="1051560"/>
            <a:ext cx="8942832" cy="475488"/>
          </a:xfrm>
          <a:prstGeom prst="rect">
            <a:avLst/>
          </a:prstGeom>
          <a:solidFill>
            <a:srgbClr val="0D2626"/>
          </a:solidFill>
          <a:ln w="12700">
            <a:solidFill>
              <a:srgbClr val="0D26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" y="1051560"/>
            <a:ext cx="512064" cy="475488"/>
          </a:xfrm>
          <a:prstGeom prst="rect">
            <a:avLst/>
          </a:prstGeom>
          <a:solidFill>
            <a:srgbClr val="073B3B"/>
          </a:solidFill>
          <a:ln w="12700">
            <a:solidFill>
              <a:srgbClr val="0E55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" y="1051560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9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68096" y="1088136"/>
            <a:ext cx="2999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Deep Learning on Voice Recordings for PD Diagnosis (2024)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22192" y="1088136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</a:rPr>
              <a:t>1D-CNN on MFCC Features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25312" y="1088136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PC-GITA Dataset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973568" y="1143000"/>
            <a:ext cx="969264" cy="292608"/>
          </a:xfrm>
          <a:prstGeom prst="rect">
            <a:avLst/>
          </a:prstGeom>
          <a:solidFill>
            <a:srgbClr val="052E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73568" y="1143000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83.5%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01168" y="1527048"/>
            <a:ext cx="8942832" cy="0"/>
          </a:xfrm>
          <a:prstGeom prst="line">
            <a:avLst/>
          </a:prstGeom>
          <a:noFill/>
          <a:ln w="6350">
            <a:solidFill>
              <a:srgbClr val="0E55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1168" y="1549908"/>
            <a:ext cx="8942832" cy="475488"/>
          </a:xfrm>
          <a:prstGeom prst="rect">
            <a:avLst/>
          </a:prstGeom>
          <a:solidFill>
            <a:srgbClr val="0A2020"/>
          </a:solidFill>
          <a:ln w="12700">
            <a:solidFill>
              <a:srgbClr val="0A202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1168" y="1549908"/>
            <a:ext cx="512064" cy="475488"/>
          </a:xfrm>
          <a:prstGeom prst="rect">
            <a:avLst/>
          </a:prstGeom>
          <a:solidFill>
            <a:srgbClr val="052E2E"/>
          </a:solidFill>
          <a:ln w="12700">
            <a:solidFill>
              <a:srgbClr val="0E55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" y="1549908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10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68096" y="1586484"/>
            <a:ext cx="2999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Transformer-Based Speech Analysis for Parkinson's (2023)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22192" y="1586484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</a:rPr>
              <a:t>Speech Transformer + Acoustic Features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25312" y="1586484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Italian Parkinson's Voice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973568" y="1641348"/>
            <a:ext cx="969264" cy="292608"/>
          </a:xfrm>
          <a:prstGeom prst="rect">
            <a:avLst/>
          </a:prstGeom>
          <a:solidFill>
            <a:srgbClr val="052E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73568" y="1641348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85.3%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01168" y="2025396"/>
            <a:ext cx="8942832" cy="0"/>
          </a:xfrm>
          <a:prstGeom prst="line">
            <a:avLst/>
          </a:prstGeom>
          <a:noFill/>
          <a:ln w="6350">
            <a:solidFill>
              <a:srgbClr val="0E55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1168" y="2048256"/>
            <a:ext cx="8942832" cy="475488"/>
          </a:xfrm>
          <a:prstGeom prst="rect">
            <a:avLst/>
          </a:prstGeom>
          <a:solidFill>
            <a:srgbClr val="0D2626"/>
          </a:solidFill>
          <a:ln w="12700">
            <a:solidFill>
              <a:srgbClr val="0D262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1168" y="2048256"/>
            <a:ext cx="512064" cy="475488"/>
          </a:xfrm>
          <a:prstGeom prst="rect">
            <a:avLst/>
          </a:prstGeom>
          <a:solidFill>
            <a:srgbClr val="073B3B"/>
          </a:solidFill>
          <a:ln w="12700">
            <a:solidFill>
              <a:srgbClr val="0E55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1168" y="204825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11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68096" y="2084832"/>
            <a:ext cx="2999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CNN-LSTM Hybrid for PD Voice Analysis (2022)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822192" y="2084832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</a:rPr>
              <a:t>BiLSTM + CNN on Spectrograms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925312" y="2084832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mPower Dataset (1,200)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973568" y="2139696"/>
            <a:ext cx="969264" cy="292608"/>
          </a:xfrm>
          <a:prstGeom prst="rect">
            <a:avLst/>
          </a:prstGeom>
          <a:solidFill>
            <a:srgbClr val="052E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73568" y="2139696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84.2%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01168" y="2523744"/>
            <a:ext cx="8942832" cy="0"/>
          </a:xfrm>
          <a:prstGeom prst="line">
            <a:avLst/>
          </a:prstGeom>
          <a:noFill/>
          <a:ln w="6350">
            <a:solidFill>
              <a:srgbClr val="0E555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01168" y="2546604"/>
            <a:ext cx="8942832" cy="475488"/>
          </a:xfrm>
          <a:prstGeom prst="rect">
            <a:avLst/>
          </a:prstGeom>
          <a:solidFill>
            <a:srgbClr val="0A2020"/>
          </a:solidFill>
          <a:ln w="12700">
            <a:solidFill>
              <a:srgbClr val="0A202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01168" y="2546604"/>
            <a:ext cx="512064" cy="475488"/>
          </a:xfrm>
          <a:prstGeom prst="rect">
            <a:avLst/>
          </a:prstGeom>
          <a:solidFill>
            <a:srgbClr val="052E2E"/>
          </a:solidFill>
          <a:ln w="12700">
            <a:solidFill>
              <a:srgbClr val="0E55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1168" y="2546604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12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68096" y="2583180"/>
            <a:ext cx="2999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Multi-Feature Fusion for PD Speech Detection (2024)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822192" y="2583180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</a:rPr>
              <a:t>XGBoost on 132 Acoustic Features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925312" y="2583180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Sakar Dataset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973568" y="2638044"/>
            <a:ext cx="969264" cy="292608"/>
          </a:xfrm>
          <a:prstGeom prst="rect">
            <a:avLst/>
          </a:prstGeom>
          <a:solidFill>
            <a:srgbClr val="052E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73568" y="2638044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86.7%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01168" y="3022092"/>
            <a:ext cx="8942832" cy="0"/>
          </a:xfrm>
          <a:prstGeom prst="line">
            <a:avLst/>
          </a:prstGeom>
          <a:noFill/>
          <a:ln w="6350">
            <a:solidFill>
              <a:srgbClr val="0E555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01168" y="3044952"/>
            <a:ext cx="8942832" cy="475488"/>
          </a:xfrm>
          <a:prstGeom prst="rect">
            <a:avLst/>
          </a:prstGeom>
          <a:solidFill>
            <a:srgbClr val="0D2626"/>
          </a:solidFill>
          <a:ln w="12700">
            <a:solidFill>
              <a:srgbClr val="0D262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01168" y="3044952"/>
            <a:ext cx="512064" cy="475488"/>
          </a:xfrm>
          <a:prstGeom prst="rect">
            <a:avLst/>
          </a:prstGeom>
          <a:solidFill>
            <a:srgbClr val="073B3B"/>
          </a:solidFill>
          <a:ln w="12700">
            <a:solidFill>
              <a:srgbClr val="0E55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01168" y="3044952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13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68096" y="3081528"/>
            <a:ext cx="2999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Mel-Spectrogram CNN for Dysarthria Detection (2023)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822192" y="3081528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</a:rPr>
              <a:t>ResNet18 on Mel-Spectrograms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925312" y="3081528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Custom (650 recordings)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973568" y="3136392"/>
            <a:ext cx="969264" cy="292608"/>
          </a:xfrm>
          <a:prstGeom prst="rect">
            <a:avLst/>
          </a:prstGeom>
          <a:solidFill>
            <a:srgbClr val="052E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973568" y="3136392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83.9%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01168" y="3520440"/>
            <a:ext cx="8942832" cy="0"/>
          </a:xfrm>
          <a:prstGeom prst="line">
            <a:avLst/>
          </a:prstGeom>
          <a:noFill/>
          <a:ln w="6350">
            <a:solidFill>
              <a:srgbClr val="0E555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01168" y="3543300"/>
            <a:ext cx="8942832" cy="475488"/>
          </a:xfrm>
          <a:prstGeom prst="rect">
            <a:avLst/>
          </a:prstGeom>
          <a:solidFill>
            <a:srgbClr val="0A2020"/>
          </a:solidFill>
          <a:ln w="12700">
            <a:solidFill>
              <a:srgbClr val="0A202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01168" y="3543300"/>
            <a:ext cx="512064" cy="475488"/>
          </a:xfrm>
          <a:prstGeom prst="rect">
            <a:avLst/>
          </a:prstGeom>
          <a:solidFill>
            <a:srgbClr val="052E2E"/>
          </a:solidFill>
          <a:ln w="12700">
            <a:solidFill>
              <a:srgbClr val="0E555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01168" y="3543300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14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768096" y="3579876"/>
            <a:ext cx="2999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Wav2Vec 2.0 Fine-Tuning for PD Detection (2024)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3822192" y="3579876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</a:rPr>
              <a:t>Pre-trained Wav2Vec 2.0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925312" y="3579876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Multiple Datasets Combined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973568" y="3634740"/>
            <a:ext cx="969264" cy="292608"/>
          </a:xfrm>
          <a:prstGeom prst="rect">
            <a:avLst/>
          </a:prstGeom>
          <a:solidFill>
            <a:srgbClr val="052E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973568" y="3634740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86.8%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201168" y="4018788"/>
            <a:ext cx="8942832" cy="0"/>
          </a:xfrm>
          <a:prstGeom prst="line">
            <a:avLst/>
          </a:prstGeom>
          <a:noFill/>
          <a:ln w="6350">
            <a:solidFill>
              <a:srgbClr val="0E555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01168" y="4041648"/>
            <a:ext cx="8942832" cy="475488"/>
          </a:xfrm>
          <a:prstGeom prst="rect">
            <a:avLst/>
          </a:prstGeom>
          <a:solidFill>
            <a:srgbClr val="0D2626"/>
          </a:solidFill>
          <a:ln w="12700">
            <a:solidFill>
              <a:srgbClr val="0D262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01168" y="4041648"/>
            <a:ext cx="512064" cy="475488"/>
          </a:xfrm>
          <a:prstGeom prst="rect">
            <a:avLst/>
          </a:prstGeom>
          <a:solidFill>
            <a:srgbClr val="073B3B"/>
          </a:solidFill>
          <a:ln w="12700">
            <a:solidFill>
              <a:srgbClr val="0E555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01168" y="4041648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15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768096" y="4078224"/>
            <a:ext cx="2999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Jitter-Shimmer Analysis with Deep Neural Networks (2022)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3822192" y="4078224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</a:rPr>
              <a:t>Fully Connected DNN on Voice Features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5925312" y="4078224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PC-GITA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7973568" y="4133088"/>
            <a:ext cx="969264" cy="292608"/>
          </a:xfrm>
          <a:prstGeom prst="rect">
            <a:avLst/>
          </a:prstGeom>
          <a:solidFill>
            <a:srgbClr val="052E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973568" y="4133088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81.4%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201168" y="4517136"/>
            <a:ext cx="8942832" cy="0"/>
          </a:xfrm>
          <a:prstGeom prst="line">
            <a:avLst/>
          </a:prstGeom>
          <a:noFill/>
          <a:ln w="6350">
            <a:solidFill>
              <a:srgbClr val="0E555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01168" y="4539996"/>
            <a:ext cx="8942832" cy="475488"/>
          </a:xfrm>
          <a:prstGeom prst="rect">
            <a:avLst/>
          </a:prstGeom>
          <a:solidFill>
            <a:srgbClr val="0A2020"/>
          </a:solidFill>
          <a:ln w="12700">
            <a:solidFill>
              <a:srgbClr val="0A202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01168" y="4539996"/>
            <a:ext cx="512064" cy="475488"/>
          </a:xfrm>
          <a:prstGeom prst="rect">
            <a:avLst/>
          </a:prstGeom>
          <a:solidFill>
            <a:srgbClr val="052E2E"/>
          </a:solidFill>
          <a:ln w="12700">
            <a:solidFill>
              <a:srgbClr val="0E555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01168" y="453999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16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768096" y="4576572"/>
            <a:ext cx="2999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Capsule Networks for PD Voice Classification (2023)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3822192" y="4576572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</a:rPr>
              <a:t>CapsNet on MFCC + Prosody Features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5925312" y="4576572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mPower + PC-GITA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7973568" y="4631436"/>
            <a:ext cx="969264" cy="292608"/>
          </a:xfrm>
          <a:prstGeom prst="rect">
            <a:avLst/>
          </a:prstGeom>
          <a:solidFill>
            <a:srgbClr val="052E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973568" y="4631436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84.5%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201168" y="5015484"/>
            <a:ext cx="8942832" cy="0"/>
          </a:xfrm>
          <a:prstGeom prst="line">
            <a:avLst/>
          </a:prstGeom>
          <a:noFill/>
          <a:ln w="6350">
            <a:solidFill>
              <a:srgbClr val="0E555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13232" y="704088"/>
            <a:ext cx="0" cy="4123944"/>
          </a:xfrm>
          <a:prstGeom prst="line">
            <a:avLst/>
          </a:prstGeom>
          <a:noFill/>
          <a:ln w="6350">
            <a:solidFill>
              <a:srgbClr val="0E555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767328" y="704088"/>
            <a:ext cx="0" cy="4123944"/>
          </a:xfrm>
          <a:prstGeom prst="line">
            <a:avLst/>
          </a:prstGeom>
          <a:noFill/>
          <a:ln w="6350">
            <a:solidFill>
              <a:srgbClr val="0E555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925312" y="704088"/>
            <a:ext cx="0" cy="4123944"/>
          </a:xfrm>
          <a:prstGeom prst="line">
            <a:avLst/>
          </a:prstGeom>
          <a:noFill/>
          <a:ln w="6350">
            <a:solidFill>
              <a:srgbClr val="0E555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973568" y="704088"/>
            <a:ext cx="0" cy="4123944"/>
          </a:xfrm>
          <a:prstGeom prst="line">
            <a:avLst/>
          </a:prstGeom>
          <a:noFill/>
          <a:ln w="6350">
            <a:solidFill>
              <a:srgbClr val="0E555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56032" y="5001768"/>
            <a:ext cx="863193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A6B6B"/>
                </a:solidFill>
              </a:rPr>
              <a:t>Slide 7  •  Multi-Modal Parkinson's Disease Detection System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658368"/>
          </a:xfrm>
          <a:prstGeom prst="rect">
            <a:avLst/>
          </a:prstGeom>
          <a:solidFill>
            <a:srgbClr val="0A1B42"/>
          </a:solidFill>
          <a:ln w="12700">
            <a:solidFill>
              <a:srgbClr val="0A1B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658368"/>
            <a:ext cx="8942832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0" y="10972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93C5FD"/>
                </a:solidFill>
              </a:rPr>
              <a:t>TABLES 3 &amp; 4: LITERATURE SURVEY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92608" y="54864"/>
            <a:ext cx="6217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91440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Systems: Multi-Modal &amp; Recent Approaches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201168" y="704088"/>
            <a:ext cx="512064" cy="347472"/>
          </a:xfrm>
          <a:prstGeom prst="rect">
            <a:avLst/>
          </a:prstGeom>
          <a:solidFill>
            <a:srgbClr val="0D2460"/>
          </a:solidFill>
          <a:ln w="12700">
            <a:solidFill>
              <a:srgbClr val="0D24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704088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13232" y="704088"/>
            <a:ext cx="2944368" cy="347472"/>
          </a:xfrm>
          <a:prstGeom prst="rect">
            <a:avLst/>
          </a:prstGeom>
          <a:solidFill>
            <a:srgbClr val="0D2460"/>
          </a:solidFill>
          <a:ln w="12700">
            <a:solidFill>
              <a:srgbClr val="0D2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704088"/>
            <a:ext cx="28712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Title &amp; Year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0" y="704088"/>
            <a:ext cx="2157984" cy="347472"/>
          </a:xfrm>
          <a:prstGeom prst="rect">
            <a:avLst/>
          </a:prstGeom>
          <a:solidFill>
            <a:srgbClr val="0D2460"/>
          </a:solidFill>
          <a:ln w="12700">
            <a:solidFill>
              <a:srgbClr val="0D24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12464" y="704088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Methodology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15584" y="704088"/>
            <a:ext cx="2157984" cy="347472"/>
          </a:xfrm>
          <a:prstGeom prst="rect">
            <a:avLst/>
          </a:prstGeom>
          <a:solidFill>
            <a:srgbClr val="0D2460"/>
          </a:solidFill>
          <a:ln w="12700">
            <a:solidFill>
              <a:srgbClr val="0D2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70448" y="704088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Dataset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973568" y="704088"/>
            <a:ext cx="969264" cy="347472"/>
          </a:xfrm>
          <a:prstGeom prst="rect">
            <a:avLst/>
          </a:prstGeom>
          <a:solidFill>
            <a:srgbClr val="0D2460"/>
          </a:solidFill>
          <a:ln w="12700">
            <a:solidFill>
              <a:srgbClr val="0D24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28432" y="704088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Acc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01168" y="1051560"/>
            <a:ext cx="8942832" cy="429768"/>
          </a:xfrm>
          <a:prstGeom prst="rect">
            <a:avLst/>
          </a:prstGeom>
          <a:solidFill>
            <a:srgbClr val="122050"/>
          </a:solidFill>
          <a:ln w="12700">
            <a:solidFill>
              <a:srgbClr val="1220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" y="1051560"/>
            <a:ext cx="512064" cy="429768"/>
          </a:xfrm>
          <a:prstGeom prst="rect">
            <a:avLst/>
          </a:prstGeom>
          <a:solidFill>
            <a:srgbClr val="0D2460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" y="1051560"/>
            <a:ext cx="51206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17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68096" y="1078992"/>
            <a:ext cx="28895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Multi-Modal PD Detection: Gait + Speech (2023)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712464" y="1078992"/>
            <a:ext cx="204825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</a:rPr>
              <a:t>Late Fusion CNN + LSTM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870448" y="1078992"/>
            <a:ext cx="204825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Custom Multi-Modal Dataset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973568" y="1124712"/>
            <a:ext cx="969264" cy="274320"/>
          </a:xfrm>
          <a:prstGeom prst="rect">
            <a:avLst/>
          </a:prstGeom>
          <a:solidFill>
            <a:srgbClr val="052E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73568" y="1124712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91.2%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01168" y="1481328"/>
            <a:ext cx="8942832" cy="0"/>
          </a:xfrm>
          <a:prstGeom prst="line">
            <a:avLst/>
          </a:prstGeom>
          <a:noFill/>
          <a:ln w="6350">
            <a:solidFill>
              <a:srgbClr val="1E3A6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1168" y="1497787"/>
            <a:ext cx="8942832" cy="429768"/>
          </a:xfrm>
          <a:prstGeom prst="rect">
            <a:avLst/>
          </a:prstGeom>
          <a:solidFill>
            <a:srgbClr val="0F1A42"/>
          </a:solidFill>
          <a:ln w="12700">
            <a:solidFill>
              <a:srgbClr val="0F1A4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1168" y="1497787"/>
            <a:ext cx="512064" cy="429768"/>
          </a:xfrm>
          <a:prstGeom prst="rect">
            <a:avLst/>
          </a:prstGeom>
          <a:solidFill>
            <a:srgbClr val="091A48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" y="1497787"/>
            <a:ext cx="51206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18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68096" y="1525219"/>
            <a:ext cx="28895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Handwriting + MRI Fusion for PD Diagnosis (2022)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712464" y="1525219"/>
            <a:ext cx="204825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</a:rPr>
              <a:t>Early Fusion ResNet + 3D-CNN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870448" y="1525219"/>
            <a:ext cx="204825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Clinical Multi-Modal Data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973568" y="1570939"/>
            <a:ext cx="969264" cy="274320"/>
          </a:xfrm>
          <a:prstGeom prst="rect">
            <a:avLst/>
          </a:prstGeom>
          <a:solidFill>
            <a:srgbClr val="052E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73568" y="1570939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90.7%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01168" y="1927555"/>
            <a:ext cx="8942832" cy="0"/>
          </a:xfrm>
          <a:prstGeom prst="line">
            <a:avLst/>
          </a:prstGeom>
          <a:noFill/>
          <a:ln w="6350">
            <a:solidFill>
              <a:srgbClr val="1E3A6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1168" y="1944014"/>
            <a:ext cx="8942832" cy="429768"/>
          </a:xfrm>
          <a:prstGeom prst="rect">
            <a:avLst/>
          </a:prstGeom>
          <a:solidFill>
            <a:srgbClr val="122050"/>
          </a:solidFill>
          <a:ln w="12700">
            <a:solidFill>
              <a:srgbClr val="1220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1168" y="1944014"/>
            <a:ext cx="512064" cy="429768"/>
          </a:xfrm>
          <a:prstGeom prst="rect">
            <a:avLst/>
          </a:prstGeom>
          <a:solidFill>
            <a:srgbClr val="0D2460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1168" y="1944014"/>
            <a:ext cx="51206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19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68096" y="1971446"/>
            <a:ext cx="28895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Speech + Facial Expression Analysis for PD (2024)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712464" y="1971446"/>
            <a:ext cx="204825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</a:rPr>
              <a:t>Attention-Based Multi-Modal Fusion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870448" y="1971446"/>
            <a:ext cx="204825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Video + Audio (320 patients)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973568" y="2017166"/>
            <a:ext cx="969264" cy="274320"/>
          </a:xfrm>
          <a:prstGeom prst="rect">
            <a:avLst/>
          </a:prstGeom>
          <a:solidFill>
            <a:srgbClr val="052E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73568" y="2017166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93.1%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01168" y="2373782"/>
            <a:ext cx="8942832" cy="0"/>
          </a:xfrm>
          <a:prstGeom prst="line">
            <a:avLst/>
          </a:prstGeom>
          <a:noFill/>
          <a:ln w="6350">
            <a:solidFill>
              <a:srgbClr val="1E3A6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01168" y="2390242"/>
            <a:ext cx="8942832" cy="429768"/>
          </a:xfrm>
          <a:prstGeom prst="rect">
            <a:avLst/>
          </a:prstGeom>
          <a:solidFill>
            <a:srgbClr val="0F1A42"/>
          </a:solidFill>
          <a:ln w="12700">
            <a:solidFill>
              <a:srgbClr val="0F1A4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01168" y="2390242"/>
            <a:ext cx="512064" cy="429768"/>
          </a:xfrm>
          <a:prstGeom prst="rect">
            <a:avLst/>
          </a:prstGeom>
          <a:solidFill>
            <a:srgbClr val="091A48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1168" y="2390242"/>
            <a:ext cx="51206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20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68096" y="2417674"/>
            <a:ext cx="28895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Triple-Modal: Gait + Speech + Handwriting (2023)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712464" y="2417674"/>
            <a:ext cx="204825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</a:rPr>
              <a:t>Hierarchical Fusion Network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870448" y="2417674"/>
            <a:ext cx="204825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Custom (280 subjects)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973568" y="2463394"/>
            <a:ext cx="969264" cy="274320"/>
          </a:xfrm>
          <a:prstGeom prst="rect">
            <a:avLst/>
          </a:prstGeom>
          <a:solidFill>
            <a:srgbClr val="052E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73568" y="2463394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94.3%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01168" y="2820010"/>
            <a:ext cx="8942832" cy="0"/>
          </a:xfrm>
          <a:prstGeom prst="line">
            <a:avLst/>
          </a:prstGeom>
          <a:noFill/>
          <a:ln w="6350">
            <a:solidFill>
              <a:srgbClr val="1E3A6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01168" y="2836469"/>
            <a:ext cx="8942832" cy="429768"/>
          </a:xfrm>
          <a:prstGeom prst="rect">
            <a:avLst/>
          </a:prstGeom>
          <a:solidFill>
            <a:srgbClr val="122050"/>
          </a:solidFill>
          <a:ln w="12700">
            <a:solidFill>
              <a:srgbClr val="12205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01168" y="2836469"/>
            <a:ext cx="512064" cy="429768"/>
          </a:xfrm>
          <a:prstGeom prst="rect">
            <a:avLst/>
          </a:prstGeom>
          <a:solidFill>
            <a:srgbClr val="0D2460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01168" y="2836469"/>
            <a:ext cx="51206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21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68096" y="2863901"/>
            <a:ext cx="28895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Meta-Learning for Multi-Modal PD Classification (2024)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712464" y="2863901"/>
            <a:ext cx="204825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</a:rPr>
              <a:t>MAML on Speech + Handwriting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870448" y="2863901"/>
            <a:ext cx="204825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Combined Datasets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973568" y="2909621"/>
            <a:ext cx="969264" cy="274320"/>
          </a:xfrm>
          <a:prstGeom prst="rect">
            <a:avLst/>
          </a:prstGeom>
          <a:solidFill>
            <a:srgbClr val="052E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973568" y="2909621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92.8%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01168" y="3266237"/>
            <a:ext cx="8942832" cy="0"/>
          </a:xfrm>
          <a:prstGeom prst="line">
            <a:avLst/>
          </a:prstGeom>
          <a:noFill/>
          <a:ln w="6350">
            <a:solidFill>
              <a:srgbClr val="1E3A6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01168" y="3282696"/>
            <a:ext cx="8942832" cy="429768"/>
          </a:xfrm>
          <a:prstGeom prst="rect">
            <a:avLst/>
          </a:prstGeom>
          <a:solidFill>
            <a:srgbClr val="0F1A42"/>
          </a:solidFill>
          <a:ln w="12700">
            <a:solidFill>
              <a:srgbClr val="0F1A4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01168" y="3282696"/>
            <a:ext cx="512064" cy="429768"/>
          </a:xfrm>
          <a:prstGeom prst="rect">
            <a:avLst/>
          </a:prstGeom>
          <a:solidFill>
            <a:srgbClr val="091A48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01168" y="3282696"/>
            <a:ext cx="51206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22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768096" y="3310128"/>
            <a:ext cx="28895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Graph Neural Network for Multi-Feature PD (2023)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3712464" y="3310128"/>
            <a:ext cx="204825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</a:rPr>
              <a:t>GNN on Feature Correlation Graph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5870448" y="3310128"/>
            <a:ext cx="204825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Multi-Modal Clinical Data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7973568" y="3355848"/>
            <a:ext cx="969264" cy="274320"/>
          </a:xfrm>
          <a:prstGeom prst="rect">
            <a:avLst/>
          </a:prstGeom>
          <a:solidFill>
            <a:srgbClr val="052E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973568" y="3355848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91.5%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201168" y="3712464"/>
            <a:ext cx="8942832" cy="0"/>
          </a:xfrm>
          <a:prstGeom prst="line">
            <a:avLst/>
          </a:prstGeom>
          <a:noFill/>
          <a:ln w="6350">
            <a:solidFill>
              <a:srgbClr val="1E3A6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01168" y="3728923"/>
            <a:ext cx="8942832" cy="429768"/>
          </a:xfrm>
          <a:prstGeom prst="rect">
            <a:avLst/>
          </a:prstGeom>
          <a:solidFill>
            <a:srgbClr val="122050"/>
          </a:solidFill>
          <a:ln w="12700">
            <a:solidFill>
              <a:srgbClr val="12205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01168" y="3728923"/>
            <a:ext cx="512064" cy="429768"/>
          </a:xfrm>
          <a:prstGeom prst="rect">
            <a:avLst/>
          </a:prstGeom>
          <a:solidFill>
            <a:srgbClr val="0D2460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01168" y="3728923"/>
            <a:ext cx="51206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23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768096" y="3756355"/>
            <a:ext cx="28895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Federated Learning for Privacy-Preserving PD (2024)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3712464" y="3756355"/>
            <a:ext cx="204825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</a:rPr>
              <a:t>Federated ResNet on Handwriting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870448" y="3756355"/>
            <a:ext cx="204825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Distributed (1,500 samples)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7973568" y="3802075"/>
            <a:ext cx="969264" cy="274320"/>
          </a:xfrm>
          <a:prstGeom prst="rect">
            <a:avLst/>
          </a:prstGeom>
          <a:solidFill>
            <a:srgbClr val="052E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973568" y="3802075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88.8%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201168" y="4158691"/>
            <a:ext cx="8942832" cy="0"/>
          </a:xfrm>
          <a:prstGeom prst="line">
            <a:avLst/>
          </a:prstGeom>
          <a:noFill/>
          <a:ln w="6350">
            <a:solidFill>
              <a:srgbClr val="1E3A6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01168" y="4175150"/>
            <a:ext cx="8942832" cy="429768"/>
          </a:xfrm>
          <a:prstGeom prst="rect">
            <a:avLst/>
          </a:prstGeom>
          <a:solidFill>
            <a:srgbClr val="0F1A42"/>
          </a:solidFill>
          <a:ln w="12700">
            <a:solidFill>
              <a:srgbClr val="0F1A4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01168" y="4175150"/>
            <a:ext cx="512064" cy="429768"/>
          </a:xfrm>
          <a:prstGeom prst="rect">
            <a:avLst/>
          </a:prstGeom>
          <a:solidFill>
            <a:srgbClr val="091A48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01168" y="4175150"/>
            <a:ext cx="51206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24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768096" y="4202582"/>
            <a:ext cx="28895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Self-Supervised Learning for PD Speech (2023)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3712464" y="4202582"/>
            <a:ext cx="204825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</a:rPr>
              <a:t>SimCLR Pre-training + Fine-tuning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5870448" y="4202582"/>
            <a:ext cx="204825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Unlabeled + Labeled Speech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7973568" y="4248302"/>
            <a:ext cx="969264" cy="274320"/>
          </a:xfrm>
          <a:prstGeom prst="rect">
            <a:avLst/>
          </a:prstGeom>
          <a:solidFill>
            <a:srgbClr val="052E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973568" y="4248302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86.4%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201168" y="4604918"/>
            <a:ext cx="8942832" cy="0"/>
          </a:xfrm>
          <a:prstGeom prst="line">
            <a:avLst/>
          </a:prstGeom>
          <a:noFill/>
          <a:ln w="6350">
            <a:solidFill>
              <a:srgbClr val="1E3A6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13232" y="704088"/>
            <a:ext cx="0" cy="3767328"/>
          </a:xfrm>
          <a:prstGeom prst="line">
            <a:avLst/>
          </a:prstGeom>
          <a:noFill/>
          <a:ln w="6350">
            <a:solidFill>
              <a:srgbClr val="1E3A6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657600" y="704088"/>
            <a:ext cx="0" cy="3767328"/>
          </a:xfrm>
          <a:prstGeom prst="line">
            <a:avLst/>
          </a:prstGeom>
          <a:noFill/>
          <a:ln w="6350">
            <a:solidFill>
              <a:srgbClr val="1E3A6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815584" y="704088"/>
            <a:ext cx="0" cy="3767328"/>
          </a:xfrm>
          <a:prstGeom prst="line">
            <a:avLst/>
          </a:prstGeom>
          <a:noFill/>
          <a:ln w="6350">
            <a:solidFill>
              <a:srgbClr val="1E3A6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973568" y="704088"/>
            <a:ext cx="0" cy="3767328"/>
          </a:xfrm>
          <a:prstGeom prst="line">
            <a:avLst/>
          </a:prstGeom>
          <a:noFill/>
          <a:ln w="6350">
            <a:solidFill>
              <a:srgbClr val="1E3A6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01168" y="4626864"/>
            <a:ext cx="8942832" cy="329184"/>
          </a:xfrm>
          <a:prstGeom prst="rect">
            <a:avLst/>
          </a:prstGeom>
          <a:solidFill>
            <a:srgbClr val="0B2252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74320" y="4645152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STAR  Ours (CMAFN):  Handwriting + Speech  via  Bidirectional Cross-Attention + GMU  =&gt;  96.94% Accuracy  |  AUC 0.9995  (Patient-level 5-fold CV)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256032" y="5001768"/>
            <a:ext cx="863193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6FA5"/>
                </a:solidFill>
              </a:rPr>
              <a:t>Slide 8  •  Multi-Modal Parkinson's Disease Detection System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182880" cy="320040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64408"/>
            <a:ext cx="182880" cy="10972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361688"/>
            <a:ext cx="182880" cy="7818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9144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1D4ED8"/>
                </a:solidFill>
              </a:rPr>
              <a:t>ARCHITECTURE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92608" y="256032"/>
            <a:ext cx="384048" cy="34747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25603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SYS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6384" y="201168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Overview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92608" y="960120"/>
            <a:ext cx="1645920" cy="1097280"/>
          </a:xfrm>
          <a:prstGeom prst="rect">
            <a:avLst/>
          </a:prstGeom>
          <a:solidFill>
            <a:srgbClr val="DBEAFE"/>
          </a:solidFill>
          <a:ln w="12700">
            <a:solidFill>
              <a:srgbClr val="0B2A6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2608" y="960120"/>
            <a:ext cx="1645920" cy="54864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051560"/>
            <a:ext cx="1499616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1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Spiral/Wave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2608" y="2286000"/>
            <a:ext cx="1645920" cy="109728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92608" y="2286000"/>
            <a:ext cx="1645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377440"/>
            <a:ext cx="1499616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2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Audio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kHz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8 seconds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331720" y="914400"/>
            <a:ext cx="2011680" cy="1234440"/>
          </a:xfrm>
          <a:prstGeom prst="rect">
            <a:avLst/>
          </a:prstGeom>
          <a:solidFill>
            <a:srgbClr val="DBEAFE"/>
          </a:solidFill>
          <a:ln w="12700">
            <a:solidFill>
              <a:srgbClr val="0B2A6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331720" y="914400"/>
            <a:ext cx="2011680" cy="54864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04872" y="1005840"/>
            <a:ext cx="1865376" cy="1069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Handwriting Analysis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+ EfficientNet-B0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Biomarkers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≈ 93.6%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331720" y="2240280"/>
            <a:ext cx="2011680" cy="123444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331720" y="2240280"/>
            <a:ext cx="2011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04872" y="2331720"/>
            <a:ext cx="1865376" cy="1069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Analysis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XLS-R + BiLSTM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 + Praat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≈ 91.7%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1280160"/>
            <a:ext cx="2194560" cy="1828800"/>
          </a:xfrm>
          <a:prstGeom prst="rect">
            <a:avLst/>
          </a:prstGeom>
          <a:solidFill>
            <a:srgbClr val="DBEAFE"/>
          </a:solidFill>
          <a:ln w="12700">
            <a:solidFill>
              <a:srgbClr val="0B2A6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280160"/>
            <a:ext cx="2194560" cy="54864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1371600"/>
            <a:ext cx="2048256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CMAFN Fusion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GMU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= 96.94%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60920" y="1508760"/>
            <a:ext cx="1508760" cy="1371600"/>
          </a:xfrm>
          <a:prstGeom prst="rect">
            <a:avLst/>
          </a:prstGeom>
          <a:solidFill>
            <a:srgbClr val="1F2937"/>
          </a:solidFill>
          <a:ln w="12700">
            <a:solidFill>
              <a:srgbClr val="0B2A6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60920" y="1508760"/>
            <a:ext cx="1508760" cy="54864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34072" y="1600200"/>
            <a:ext cx="1362456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Risk: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938528" y="1389888"/>
            <a:ext cx="3657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38528" y="2715768"/>
            <a:ext cx="3657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43400" y="1664208"/>
            <a:ext cx="3657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43400" y="2761488"/>
            <a:ext cx="3657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49440" y="2148840"/>
            <a:ext cx="3657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6888" y="3520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Non-invasive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Inputs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286000" y="3520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6F"/>
                </a:solidFill>
              </a:rPr>
              <a:t>Unimodal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2A6F"/>
                </a:solidFill>
              </a:rPr>
              <a:t>Modules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0916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6F"/>
                </a:solidFill>
              </a:rPr>
              <a:t>Cross-Modal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2A6F"/>
                </a:solidFill>
              </a:rPr>
              <a:t>Fusion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15200" y="29718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</a:rPr>
              <a:t>Clinical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</a:rPr>
              <a:t>Decision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92608" y="4114800"/>
            <a:ext cx="2011680" cy="62179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41605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6F"/>
                </a:solidFill>
              </a:rPr>
              <a:t>Flask Web App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84048" y="43708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Real-time inference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487168" y="4114800"/>
            <a:ext cx="2011680" cy="62179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78608" y="41605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6F"/>
                </a:solidFill>
              </a:rPr>
              <a:t>CPU-friendly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578608" y="43708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&lt; 3s end-to-end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81728" y="4114800"/>
            <a:ext cx="2011680" cy="62179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73168" y="41605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6F"/>
                </a:solidFill>
              </a:rPr>
              <a:t>Patient-level CV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773168" y="43708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5-fold, no leakage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876288" y="4114800"/>
            <a:ext cx="2011680" cy="62179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67728" y="41605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6F"/>
                </a:solidFill>
              </a:rPr>
              <a:t>~85 MB model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967728" y="43708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INT8 quantized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VIT-AP  •  Senior Design Project Review-2  •  Multimodal Parkinson's Disease Detection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64592" cy="329184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364992"/>
            <a:ext cx="164592" cy="10972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462272"/>
            <a:ext cx="16459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"/>
            <a:ext cx="384048" cy="38404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1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91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D4ED8"/>
                </a:solidFill>
              </a:rPr>
              <a:t>MODULE 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13232" y="256032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Handwriting Analysis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858000" y="73152"/>
            <a:ext cx="1115568" cy="47548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73152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93.6%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0" y="329184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</a:rPr>
              <a:t>Accuracy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010144" y="73152"/>
            <a:ext cx="111556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0144" y="73152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0.985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10144" y="329184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F6E4"/>
                </a:solidFill>
              </a:rPr>
              <a:t>AUC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8600" y="694944"/>
            <a:ext cx="4206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694944"/>
            <a:ext cx="4206240" cy="29260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713232"/>
            <a:ext cx="3968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ARCHITECTURE  —  Fig. 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77240" y="886968"/>
            <a:ext cx="3108960" cy="384048"/>
          </a:xfrm>
          <a:prstGeom prst="rect">
            <a:avLst/>
          </a:prstGeom>
          <a:solidFill>
            <a:srgbClr val="0B2A6F"/>
          </a:solidFill>
          <a:ln w="22860">
            <a:solidFill>
              <a:srgbClr val="0B2A6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2104" y="914400"/>
            <a:ext cx="2999232" cy="18434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Handwriting Image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32104" y="1078992"/>
            <a:ext cx="2999232" cy="1728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(Spiral / Wave Drawing)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331720" y="1271016"/>
            <a:ext cx="914" cy="210312"/>
          </a:xfrm>
          <a:prstGeom prst="line">
            <a:avLst/>
          </a:prstGeom>
          <a:noFill/>
          <a:ln w="20320">
            <a:solidFill>
              <a:srgbClr val="0B2A6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05840" y="1490472"/>
            <a:ext cx="2651760" cy="347472"/>
          </a:xfrm>
          <a:prstGeom prst="rect">
            <a:avLst/>
          </a:prstGeom>
          <a:solidFill>
            <a:srgbClr val="DBEAFE"/>
          </a:solidFill>
          <a:ln w="22860">
            <a:solidFill>
              <a:srgbClr val="0B2A6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60704" y="1517904"/>
            <a:ext cx="2542032" cy="16678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A6F"/>
                </a:solidFill>
              </a:rPr>
              <a:t>16 Spatial Biomarkers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60704" y="1664208"/>
            <a:ext cx="2542032" cy="1563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B2A6F"/>
                </a:solidFill>
              </a:rPr>
              <a:t>OpenCV feature extraction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331720" y="1837944"/>
            <a:ext cx="914" cy="91440"/>
          </a:xfrm>
          <a:prstGeom prst="line">
            <a:avLst/>
          </a:prstGeom>
          <a:noFill/>
          <a:ln w="20320">
            <a:solidFill>
              <a:srgbClr val="3344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63040" y="1929384"/>
            <a:ext cx="868680" cy="0"/>
          </a:xfrm>
          <a:prstGeom prst="line">
            <a:avLst/>
          </a:prstGeom>
          <a:noFill/>
          <a:ln w="20320">
            <a:solidFill>
              <a:srgbClr val="3344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1929384"/>
            <a:ext cx="868680" cy="0"/>
          </a:xfrm>
          <a:prstGeom prst="line">
            <a:avLst/>
          </a:prstGeom>
          <a:noFill/>
          <a:ln w="20320">
            <a:solidFill>
              <a:srgbClr val="0066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63040" y="1929384"/>
            <a:ext cx="914" cy="137160"/>
          </a:xfrm>
          <a:prstGeom prst="line">
            <a:avLst/>
          </a:prstGeom>
          <a:noFill/>
          <a:ln w="20320">
            <a:solidFill>
              <a:srgbClr val="334455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200400" y="1929384"/>
            <a:ext cx="914" cy="137160"/>
          </a:xfrm>
          <a:prstGeom prst="line">
            <a:avLst/>
          </a:prstGeom>
          <a:noFill/>
          <a:ln w="20320">
            <a:solidFill>
              <a:srgbClr val="006655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" y="2066544"/>
            <a:ext cx="1554480" cy="512064"/>
          </a:xfrm>
          <a:prstGeom prst="rect">
            <a:avLst/>
          </a:prstGeom>
          <a:solidFill>
            <a:srgbClr val="EEF4FF"/>
          </a:solidFill>
          <a:ln w="22860">
            <a:solidFill>
              <a:srgbClr val="0B2A6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40664" y="2066544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A6F"/>
                </a:solidFill>
              </a:rPr>
              <a:t>MLP Path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40664" y="2304288"/>
            <a:ext cx="1444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16 engineered features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377440" y="2066544"/>
            <a:ext cx="1645920" cy="512064"/>
          </a:xfrm>
          <a:prstGeom prst="rect">
            <a:avLst/>
          </a:prstGeom>
          <a:solidFill>
            <a:srgbClr val="E6FAF8"/>
          </a:solidFill>
          <a:ln w="2286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432304" y="2066544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CNN Path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432304" y="2304288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EfficientNet-B0 + CBAM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463040" y="2578608"/>
            <a:ext cx="914" cy="128016"/>
          </a:xfrm>
          <a:prstGeom prst="line">
            <a:avLst/>
          </a:prstGeom>
          <a:noFill/>
          <a:ln w="20320">
            <a:solidFill>
              <a:srgbClr val="3344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2578608"/>
            <a:ext cx="914" cy="128016"/>
          </a:xfrm>
          <a:prstGeom prst="line">
            <a:avLst/>
          </a:prstGeom>
          <a:noFill/>
          <a:ln w="20320">
            <a:solidFill>
              <a:srgbClr val="00665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63040" y="2706624"/>
            <a:ext cx="868680" cy="0"/>
          </a:xfrm>
          <a:prstGeom prst="line">
            <a:avLst/>
          </a:prstGeom>
          <a:noFill/>
          <a:ln w="20320">
            <a:solidFill>
              <a:srgbClr val="3344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2706624"/>
            <a:ext cx="868680" cy="0"/>
          </a:xfrm>
          <a:prstGeom prst="line">
            <a:avLst/>
          </a:prstGeom>
          <a:noFill/>
          <a:ln w="20320">
            <a:solidFill>
              <a:srgbClr val="0066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331720" y="2706624"/>
            <a:ext cx="914" cy="109728"/>
          </a:xfrm>
          <a:prstGeom prst="line">
            <a:avLst/>
          </a:prstGeom>
          <a:noFill/>
          <a:ln w="20320">
            <a:solidFill>
              <a:srgbClr val="334455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051560" y="2816352"/>
            <a:ext cx="2560320" cy="457200"/>
          </a:xfrm>
          <a:prstGeom prst="rect">
            <a:avLst/>
          </a:prstGeom>
          <a:solidFill>
            <a:srgbClr val="F0F4FF"/>
          </a:solidFill>
          <a:ln w="22860">
            <a:solidFill>
              <a:srgbClr val="0B2A6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124712" y="2816352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6F"/>
                </a:solidFill>
              </a:rPr>
              <a:t>Logistic Regression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124712" y="3044952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Meta-learner stacking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331720" y="3273552"/>
            <a:ext cx="914" cy="219456"/>
          </a:xfrm>
          <a:prstGeom prst="line">
            <a:avLst/>
          </a:prstGeom>
          <a:noFill/>
          <a:ln w="20320">
            <a:solidFill>
              <a:srgbClr val="0B2A6F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1005840" y="3493008"/>
            <a:ext cx="2651760" cy="502920"/>
          </a:xfrm>
          <a:prstGeom prst="rect">
            <a:avLst/>
          </a:prstGeom>
          <a:solidFill>
            <a:srgbClr val="0B2A6F"/>
          </a:solidFill>
          <a:ln w="25400">
            <a:solidFill>
              <a:srgbClr val="0B2A6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05840" y="349300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93.6%  Accuracy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2478024" y="3493008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AUC  0.985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20040" y="4059936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</a:rPr>
              <a:t>Patient-level stratified 5-fold cross-validation  •  No data leakage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572000" y="694944"/>
            <a:ext cx="434340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572000" y="694944"/>
            <a:ext cx="43434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90872" y="7132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16 SPATIAL BIOMARKERS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663440" y="1060704"/>
            <a:ext cx="4160520" cy="822960"/>
          </a:xfrm>
          <a:prstGeom prst="rect">
            <a:avLst/>
          </a:prstGeom>
          <a:solidFill>
            <a:srgbClr val="EEF4F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63440" y="1060704"/>
            <a:ext cx="384048" cy="82296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63440" y="1060704"/>
            <a:ext cx="3840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120640" y="115214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A6F"/>
                </a:solidFill>
              </a:rPr>
              <a:t>Stroke &amp; Thickness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5120640" y="144475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Stroke width mean  •  Stroke width std  •  Width variability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663440" y="1993392"/>
            <a:ext cx="4160520" cy="822960"/>
          </a:xfrm>
          <a:prstGeom prst="rect">
            <a:avLst/>
          </a:prstGeom>
          <a:solidFill>
            <a:srgbClr val="E6FA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63440" y="1993392"/>
            <a:ext cx="38404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63440" y="1993392"/>
            <a:ext cx="3840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5120640" y="208483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</a:rPr>
              <a:t>Geometry &amp; Smoothness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5120640" y="237744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Curvature mean  •  Direction changes  •  Contour roughness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663440" y="2926080"/>
            <a:ext cx="4160520" cy="822960"/>
          </a:xfrm>
          <a:prstGeom prst="rect">
            <a:avLst/>
          </a:prstGeom>
          <a:solidFill>
            <a:srgbClr val="EEF4F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663440" y="2926080"/>
            <a:ext cx="384048" cy="82296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63440" y="2926080"/>
            <a:ext cx="3840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5120640" y="301752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A6F"/>
                </a:solidFill>
              </a:rPr>
              <a:t>Density &amp; Components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5120640" y="3310128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Connected component density  •  Ink density  •  Edge density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4663440" y="3858768"/>
            <a:ext cx="4160520" cy="822960"/>
          </a:xfrm>
          <a:prstGeom prst="rect">
            <a:avLst/>
          </a:prstGeom>
          <a:solidFill>
            <a:srgbClr val="E6FA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663440" y="3858768"/>
            <a:ext cx="38404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663440" y="3858768"/>
            <a:ext cx="3840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5120640" y="395020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</a:rPr>
              <a:t>Statistics &amp; Complexity</a:t>
            </a:r>
            <a:endParaRPr lang="en-US" sz="1150" dirty="0"/>
          </a:p>
        </p:txBody>
      </p:sp>
      <p:sp>
        <p:nvSpPr>
          <p:cNvPr id="72" name="Text 70"/>
          <p:cNvSpPr/>
          <p:nvPr/>
        </p:nvSpPr>
        <p:spPr>
          <a:xfrm>
            <a:off x="5120640" y="4242816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Entropy  •  Fractal dimension  •  Hu moments (1–7)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572000" y="4791456"/>
            <a:ext cx="4343400" cy="16459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617720" y="4791456"/>
            <a:ext cx="4251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3C5FD"/>
                </a:solidFill>
              </a:rPr>
              <a:t>Captures tremor, micrographia &amp; motor control degradation — portable, non-invasive input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228600" y="4974336"/>
            <a:ext cx="8686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VIT-AP  •  Senior Design Project Review-2  •  Multimodal Parkinson's Disease Detection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64592" cy="3291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364992"/>
            <a:ext cx="164592" cy="109728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462272"/>
            <a:ext cx="16459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"/>
            <a:ext cx="38404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1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91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D9488"/>
                </a:solidFill>
              </a:rPr>
              <a:t>MODULE B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13232" y="256032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Analysis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858000" y="73152"/>
            <a:ext cx="111556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73152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91.7%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0" y="329184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F6E4"/>
                </a:solidFill>
              </a:rPr>
              <a:t>Accuracy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010144" y="73152"/>
            <a:ext cx="1115568" cy="47548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0144" y="73152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0.971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10144" y="329184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</a:rPr>
              <a:t>AUC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8600" y="694944"/>
            <a:ext cx="4206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694944"/>
            <a:ext cx="420624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713232"/>
            <a:ext cx="3968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ARCHITECTURE  —  Fig. B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4400" y="1042416"/>
            <a:ext cx="2834640" cy="402336"/>
          </a:xfrm>
          <a:prstGeom prst="rect">
            <a:avLst/>
          </a:prstGeom>
          <a:solidFill>
            <a:srgbClr val="0D9488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87552" y="1042416"/>
            <a:ext cx="2688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Speech Audio  (16 kHz, &lt; 8s)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331720" y="1444752"/>
            <a:ext cx="914" cy="91440"/>
          </a:xfrm>
          <a:prstGeom prst="line">
            <a:avLst/>
          </a:prstGeom>
          <a:noFill/>
          <a:ln w="2032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1536192"/>
            <a:ext cx="2743200" cy="0"/>
          </a:xfrm>
          <a:prstGeom prst="line">
            <a:avLst/>
          </a:prstGeom>
          <a:noFill/>
          <a:ln w="2032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1536192"/>
            <a:ext cx="914" cy="146304"/>
          </a:xfrm>
          <a:prstGeom prst="line">
            <a:avLst/>
          </a:prstGeom>
          <a:noFill/>
          <a:ln w="2032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874520" y="1536192"/>
            <a:ext cx="914" cy="146304"/>
          </a:xfrm>
          <a:prstGeom prst="line">
            <a:avLst/>
          </a:prstGeom>
          <a:noFill/>
          <a:ln w="2032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788920" y="1536192"/>
            <a:ext cx="914" cy="146304"/>
          </a:xfrm>
          <a:prstGeom prst="line">
            <a:avLst/>
          </a:prstGeom>
          <a:noFill/>
          <a:ln w="2032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703320" y="1536192"/>
            <a:ext cx="914" cy="146304"/>
          </a:xfrm>
          <a:prstGeom prst="line">
            <a:avLst/>
          </a:prstGeom>
          <a:noFill/>
          <a:ln w="2032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57200" y="1682496"/>
            <a:ext cx="1005840" cy="512064"/>
          </a:xfrm>
          <a:prstGeom prst="rect">
            <a:avLst/>
          </a:prstGeom>
          <a:solidFill>
            <a:srgbClr val="E6FAF8"/>
          </a:solidFill>
          <a:ln w="22860">
            <a:solidFill>
              <a:srgbClr val="0066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3776" y="1682496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XLS-R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" y="1920240"/>
            <a:ext cx="932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</a:rPr>
              <a:t>BiLSTM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371600" y="1682496"/>
            <a:ext cx="1005840" cy="512064"/>
          </a:xfrm>
          <a:prstGeom prst="rect">
            <a:avLst/>
          </a:prstGeom>
          <a:solidFill>
            <a:srgbClr val="EEF4FF"/>
          </a:solidFill>
          <a:ln w="22860">
            <a:solidFill>
              <a:srgbClr val="0B2A6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408176" y="1682496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6F"/>
                </a:solidFill>
              </a:rPr>
              <a:t>Mel-Spec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408176" y="1920240"/>
            <a:ext cx="932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</a:rPr>
              <a:t>CNN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86000" y="1682496"/>
            <a:ext cx="1005840" cy="512064"/>
          </a:xfrm>
          <a:prstGeom prst="rect">
            <a:avLst/>
          </a:prstGeom>
          <a:solidFill>
            <a:srgbClr val="E6FAF8"/>
          </a:solidFill>
          <a:ln w="22860">
            <a:solidFill>
              <a:srgbClr val="0066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322576" y="1682496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MFCC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322576" y="1920240"/>
            <a:ext cx="932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</a:rPr>
              <a:t>+ Delta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00400" y="1682496"/>
            <a:ext cx="1005840" cy="512064"/>
          </a:xfrm>
          <a:prstGeom prst="rect">
            <a:avLst/>
          </a:prstGeom>
          <a:solidFill>
            <a:srgbClr val="EEF4FF"/>
          </a:solidFill>
          <a:ln w="22860">
            <a:solidFill>
              <a:srgbClr val="0B2A6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236976" y="1682496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6F"/>
                </a:solidFill>
              </a:rPr>
              <a:t>Praat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36976" y="1920240"/>
            <a:ext cx="932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</a:rPr>
              <a:t>Acoustic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960120" y="2194560"/>
            <a:ext cx="914" cy="128016"/>
          </a:xfrm>
          <a:prstGeom prst="line">
            <a:avLst/>
          </a:prstGeom>
          <a:noFill/>
          <a:ln w="19050">
            <a:solidFill>
              <a:srgbClr val="3344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874520" y="2194560"/>
            <a:ext cx="914" cy="128016"/>
          </a:xfrm>
          <a:prstGeom prst="line">
            <a:avLst/>
          </a:prstGeom>
          <a:noFill/>
          <a:ln w="19050">
            <a:solidFill>
              <a:srgbClr val="3344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88920" y="2194560"/>
            <a:ext cx="914" cy="128016"/>
          </a:xfrm>
          <a:prstGeom prst="line">
            <a:avLst/>
          </a:prstGeom>
          <a:noFill/>
          <a:ln w="19050">
            <a:solidFill>
              <a:srgbClr val="3344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03320" y="2194560"/>
            <a:ext cx="914" cy="128016"/>
          </a:xfrm>
          <a:prstGeom prst="line">
            <a:avLst/>
          </a:prstGeom>
          <a:noFill/>
          <a:ln w="19050">
            <a:solidFill>
              <a:srgbClr val="3344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60120" y="2322576"/>
            <a:ext cx="2743200" cy="0"/>
          </a:xfrm>
          <a:prstGeom prst="line">
            <a:avLst/>
          </a:prstGeom>
          <a:noFill/>
          <a:ln w="19050">
            <a:solidFill>
              <a:srgbClr val="33445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31720" y="2322576"/>
            <a:ext cx="914" cy="54864"/>
          </a:xfrm>
          <a:prstGeom prst="line">
            <a:avLst/>
          </a:prstGeom>
          <a:noFill/>
          <a:ln w="19050">
            <a:solidFill>
              <a:srgbClr val="334455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960120" y="2377440"/>
            <a:ext cx="2743200" cy="420624"/>
          </a:xfrm>
          <a:prstGeom prst="rect">
            <a:avLst/>
          </a:prstGeom>
          <a:solidFill>
            <a:srgbClr val="EEF4FF"/>
          </a:solidFill>
          <a:ln w="25400">
            <a:solidFill>
              <a:srgbClr val="0B2A6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1033272" y="2377440"/>
            <a:ext cx="2596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6F"/>
                </a:solidFill>
              </a:rPr>
              <a:t>Multi-Head Cross-Attention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331720" y="2798064"/>
            <a:ext cx="914" cy="100584"/>
          </a:xfrm>
          <a:prstGeom prst="line">
            <a:avLst/>
          </a:prstGeom>
          <a:noFill/>
          <a:ln w="19050">
            <a:solidFill>
              <a:srgbClr val="33445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673352" y="2898648"/>
            <a:ext cx="1316736" cy="0"/>
          </a:xfrm>
          <a:prstGeom prst="line">
            <a:avLst/>
          </a:prstGeom>
          <a:noFill/>
          <a:ln w="19050">
            <a:solidFill>
              <a:srgbClr val="33445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673352" y="2898648"/>
            <a:ext cx="914" cy="100584"/>
          </a:xfrm>
          <a:prstGeom prst="line">
            <a:avLst/>
          </a:prstGeom>
          <a:noFill/>
          <a:ln w="19050">
            <a:solidFill>
              <a:srgbClr val="334455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2990088" y="2898648"/>
            <a:ext cx="914" cy="100584"/>
          </a:xfrm>
          <a:prstGeom prst="line">
            <a:avLst/>
          </a:prstGeom>
          <a:noFill/>
          <a:ln w="19050">
            <a:solidFill>
              <a:srgbClr val="006655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960120" y="2999232"/>
            <a:ext cx="1316736" cy="420624"/>
          </a:xfrm>
          <a:prstGeom prst="rect">
            <a:avLst/>
          </a:prstGeom>
          <a:solidFill>
            <a:srgbClr val="EEF4FF"/>
          </a:solidFill>
          <a:ln w="22860">
            <a:solidFill>
              <a:srgbClr val="0B2A6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1014984" y="2999232"/>
            <a:ext cx="1207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6F"/>
                </a:solidFill>
              </a:rPr>
              <a:t>Deep Learning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386584" y="2999232"/>
            <a:ext cx="1316736" cy="420624"/>
          </a:xfrm>
          <a:prstGeom prst="rect">
            <a:avLst/>
          </a:prstGeom>
          <a:solidFill>
            <a:srgbClr val="E6FAF8"/>
          </a:solidFill>
          <a:ln w="2286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2441448" y="2999232"/>
            <a:ext cx="1207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Classical ML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673352" y="3419856"/>
            <a:ext cx="914" cy="118872"/>
          </a:xfrm>
          <a:prstGeom prst="line">
            <a:avLst/>
          </a:prstGeom>
          <a:noFill/>
          <a:ln w="19050">
            <a:solidFill>
              <a:srgbClr val="33445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990088" y="3419856"/>
            <a:ext cx="914" cy="118872"/>
          </a:xfrm>
          <a:prstGeom prst="line">
            <a:avLst/>
          </a:prstGeom>
          <a:noFill/>
          <a:ln w="19050">
            <a:solidFill>
              <a:srgbClr val="00665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673352" y="3538728"/>
            <a:ext cx="1316736" cy="0"/>
          </a:xfrm>
          <a:prstGeom prst="line">
            <a:avLst/>
          </a:prstGeom>
          <a:noFill/>
          <a:ln w="19050">
            <a:solidFill>
              <a:srgbClr val="33445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31720" y="3538728"/>
            <a:ext cx="914" cy="82296"/>
          </a:xfrm>
          <a:prstGeom prst="line">
            <a:avLst/>
          </a:prstGeom>
          <a:noFill/>
          <a:ln w="19050">
            <a:solidFill>
              <a:srgbClr val="334455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1005840" y="3621024"/>
            <a:ext cx="2651760" cy="402336"/>
          </a:xfrm>
          <a:prstGeom prst="rect">
            <a:avLst/>
          </a:prstGeom>
          <a:solidFill>
            <a:srgbClr val="F0F4FF"/>
          </a:solidFill>
          <a:ln w="22860">
            <a:solidFill>
              <a:srgbClr val="0B2A6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1078992" y="3621024"/>
            <a:ext cx="2505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A6F"/>
                </a:solidFill>
              </a:rPr>
              <a:t>Ridge Logistic Regression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2331720" y="4023360"/>
            <a:ext cx="914" cy="201168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1005840" y="4224528"/>
            <a:ext cx="2651760" cy="475488"/>
          </a:xfrm>
          <a:prstGeom prst="rect">
            <a:avLst/>
          </a:prstGeom>
          <a:solidFill>
            <a:srgbClr val="0D9488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05840" y="422452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91.7%  Accuracy</a:t>
            </a:r>
            <a:endParaRPr lang="en-US" sz="1700" dirty="0"/>
          </a:p>
        </p:txBody>
      </p:sp>
      <p:sp>
        <p:nvSpPr>
          <p:cNvPr id="64" name="Text 62"/>
          <p:cNvSpPr/>
          <p:nvPr/>
        </p:nvSpPr>
        <p:spPr>
          <a:xfrm>
            <a:off x="2560320" y="4224528"/>
            <a:ext cx="10789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FBF1"/>
                </a:solidFill>
              </a:rPr>
              <a:t>AUC  0.971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320040" y="477316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Fig. B — 4-pathway speech module with cross-attention fusion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572000" y="694944"/>
            <a:ext cx="434340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4572000" y="704088"/>
            <a:ext cx="4343400" cy="29260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690872" y="7132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PATHWAY DETAILS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663440" y="1060704"/>
            <a:ext cx="4160520" cy="822960"/>
          </a:xfrm>
          <a:prstGeom prst="rect">
            <a:avLst/>
          </a:prstGeom>
          <a:solidFill>
            <a:srgbClr val="E6FA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663440" y="1060704"/>
            <a:ext cx="38404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663440" y="1060704"/>
            <a:ext cx="3840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5120640" y="1133856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</a:rPr>
              <a:t>XLS-R + BiLSTM</a:t>
            </a:r>
            <a:endParaRPr lang="en-US" sz="1150" dirty="0"/>
          </a:p>
        </p:txBody>
      </p:sp>
      <p:sp>
        <p:nvSpPr>
          <p:cNvPr id="73" name="Text 71"/>
          <p:cNvSpPr/>
          <p:nvPr/>
        </p:nvSpPr>
        <p:spPr>
          <a:xfrm>
            <a:off x="5120640" y="1408176"/>
            <a:ext cx="3611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Self-supervised wav2vec 2.0 multilingual (300M). Attentive pooling + BiLSTM captures phonetic, prosodic and articulation patterns far beyond manual features.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663440" y="1993392"/>
            <a:ext cx="4160520" cy="822960"/>
          </a:xfrm>
          <a:prstGeom prst="rect">
            <a:avLst/>
          </a:prstGeom>
          <a:solidFill>
            <a:srgbClr val="EEF4F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663440" y="1993392"/>
            <a:ext cx="384048" cy="82296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663440" y="1993392"/>
            <a:ext cx="3840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5120640" y="2066544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A6F"/>
                </a:solidFill>
              </a:rPr>
              <a:t>Mel-Spectrogram CNN</a:t>
            </a:r>
            <a:endParaRPr lang="en-US" sz="1150" dirty="0"/>
          </a:p>
        </p:txBody>
      </p:sp>
      <p:sp>
        <p:nvSpPr>
          <p:cNvPr id="78" name="Text 76"/>
          <p:cNvSpPr/>
          <p:nvPr/>
        </p:nvSpPr>
        <p:spPr>
          <a:xfrm>
            <a:off x="5120640" y="2340864"/>
            <a:ext cx="3611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ResNet-based 2D CNN processes log-mel spectrogram image. Captures spectral energy distribution over time — key indicator of reduced vocal control.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663440" y="2926080"/>
            <a:ext cx="4160520" cy="822960"/>
          </a:xfrm>
          <a:prstGeom prst="rect">
            <a:avLst/>
          </a:prstGeom>
          <a:solidFill>
            <a:srgbClr val="E6FA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663440" y="2926080"/>
            <a:ext cx="38404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663440" y="2926080"/>
            <a:ext cx="3840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82" name="Text 80"/>
          <p:cNvSpPr/>
          <p:nvPr/>
        </p:nvSpPr>
        <p:spPr>
          <a:xfrm>
            <a:off x="5120640" y="2999232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</a:rPr>
              <a:t>MFCC + Derivatives</a:t>
            </a:r>
            <a:endParaRPr lang="en-US" sz="1150" dirty="0"/>
          </a:p>
        </p:txBody>
      </p:sp>
      <p:sp>
        <p:nvSpPr>
          <p:cNvPr id="83" name="Text 81"/>
          <p:cNvSpPr/>
          <p:nvPr/>
        </p:nvSpPr>
        <p:spPr>
          <a:xfrm>
            <a:off x="5120640" y="3273552"/>
            <a:ext cx="3611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13–40 Mel-Frequency Cepstral Coefficients + 1st/2nd delta features. Mean, variance, min, max statistical descriptors per frame summarize timbre &amp; resonance.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663440" y="3858768"/>
            <a:ext cx="4160520" cy="822960"/>
          </a:xfrm>
          <a:prstGeom prst="rect">
            <a:avLst/>
          </a:prstGeom>
          <a:solidFill>
            <a:srgbClr val="EEF4F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663440" y="3858768"/>
            <a:ext cx="384048" cy="82296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663440" y="3858768"/>
            <a:ext cx="3840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87" name="Text 85"/>
          <p:cNvSpPr/>
          <p:nvPr/>
        </p:nvSpPr>
        <p:spPr>
          <a:xfrm>
            <a:off x="5120640" y="3931920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A6F"/>
                </a:solidFill>
              </a:rPr>
              <a:t>Praat Acoustic</a:t>
            </a:r>
            <a:endParaRPr lang="en-US" sz="1150" dirty="0"/>
          </a:p>
        </p:txBody>
      </p:sp>
      <p:sp>
        <p:nvSpPr>
          <p:cNvPr id="88" name="Text 86"/>
          <p:cNvSpPr/>
          <p:nvPr/>
        </p:nvSpPr>
        <p:spPr>
          <a:xfrm>
            <a:off x="5120640" y="4206240"/>
            <a:ext cx="3611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Voice quality measures: Jitter (freq variability), Shimmer (amplitude variability), HNR, NHR, DUV. Clinically established dysarthria and hypophonia markers.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4572000" y="4791456"/>
            <a:ext cx="434340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617720" y="4791456"/>
            <a:ext cx="4251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XLS-R + cross-attention fusion outperforms single-pathway speech models by a wide margin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228600" y="4974336"/>
            <a:ext cx="8686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VIT-AP  •  Senior Design Project Review-2  •  Multimodal Parkinson's Disease Detection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64592" cy="329184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364992"/>
            <a:ext cx="164592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462272"/>
            <a:ext cx="164592" cy="6858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"/>
            <a:ext cx="384048" cy="38404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1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914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D4ED8"/>
                </a:solidFill>
              </a:rPr>
              <a:t>MODULE C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13232" y="25603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Attention Fusion Network (CMAFN)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205472" y="73152"/>
            <a:ext cx="1005840" cy="47548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05472" y="731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96.94%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05472" y="329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Accuracy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8229600" y="73152"/>
            <a:ext cx="877824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73152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0.9995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329184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F6E4"/>
                </a:solidFill>
              </a:rPr>
              <a:t>AUC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28600" y="694944"/>
            <a:ext cx="480060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694944"/>
            <a:ext cx="4800600" cy="29260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713232"/>
            <a:ext cx="4590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CMAFN ARCHITECTURE  —  Fig. C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950976"/>
            <a:ext cx="1920240" cy="402336"/>
          </a:xfrm>
          <a:prstGeom prst="rect">
            <a:avLst/>
          </a:prstGeom>
          <a:solidFill>
            <a:srgbClr val="FFFFFF"/>
          </a:solidFill>
          <a:ln w="22860">
            <a:solidFill>
              <a:srgbClr val="0B2A6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" y="969264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A6F"/>
                </a:solidFill>
              </a:rPr>
              <a:t>Handwriting Encoder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6344" y="1152144"/>
            <a:ext cx="1810512" cy="177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B2A6F"/>
                </a:solidFill>
              </a:rPr>
              <a:t>(EfficientNet-B4)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926080" y="950976"/>
            <a:ext cx="1920240" cy="402336"/>
          </a:xfrm>
          <a:prstGeom prst="rect">
            <a:avLst/>
          </a:prstGeom>
          <a:solidFill>
            <a:srgbClr val="FFFFFF"/>
          </a:solidFill>
          <a:ln w="2286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980944" y="969264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Speech Encoder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980944" y="1152144"/>
            <a:ext cx="1810512" cy="177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D9488"/>
                </a:solidFill>
              </a:rPr>
              <a:t>(XLS-R  300M)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371600" y="1353312"/>
            <a:ext cx="914" cy="237744"/>
          </a:xfrm>
          <a:prstGeom prst="line">
            <a:avLst/>
          </a:prstGeom>
          <a:noFill/>
          <a:ln w="20320">
            <a:solidFill>
              <a:srgbClr val="0B2A6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886200" y="1353312"/>
            <a:ext cx="914" cy="237744"/>
          </a:xfrm>
          <a:prstGeom prst="line">
            <a:avLst/>
          </a:prstGeom>
          <a:noFill/>
          <a:ln w="2032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25780" y="1591056"/>
            <a:ext cx="1691640" cy="365760"/>
          </a:xfrm>
          <a:prstGeom prst="rect">
            <a:avLst/>
          </a:prstGeom>
          <a:solidFill>
            <a:srgbClr val="EEF4FF"/>
          </a:solidFill>
          <a:ln w="22860">
            <a:solidFill>
              <a:srgbClr val="0B2A6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80644" y="1609344"/>
            <a:ext cx="1581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A6F"/>
                </a:solidFill>
              </a:rPr>
              <a:t>Projection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0644" y="1773936"/>
            <a:ext cx="1581912" cy="1609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B2A6F"/>
                </a:solidFill>
              </a:rPr>
              <a:t>512 → 256-d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040380" y="1591056"/>
            <a:ext cx="1691640" cy="365760"/>
          </a:xfrm>
          <a:prstGeom prst="rect">
            <a:avLst/>
          </a:prstGeom>
          <a:solidFill>
            <a:srgbClr val="E6FAF8"/>
          </a:solidFill>
          <a:ln w="2286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095244" y="1609344"/>
            <a:ext cx="1581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Projection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095244" y="1773936"/>
            <a:ext cx="1581912" cy="1609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D9488"/>
                </a:solidFill>
              </a:rPr>
              <a:t>960 → 256-d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221992" y="1773936"/>
            <a:ext cx="813816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ysDash"/>
          </a:ln>
        </p:spPr>
      </p:sp>
      <p:sp>
        <p:nvSpPr>
          <p:cNvPr id="34" name="Shape 32"/>
          <p:cNvSpPr/>
          <p:nvPr/>
        </p:nvSpPr>
        <p:spPr>
          <a:xfrm>
            <a:off x="1371600" y="1956816"/>
            <a:ext cx="914" cy="256032"/>
          </a:xfrm>
          <a:prstGeom prst="line">
            <a:avLst/>
          </a:prstGeom>
          <a:noFill/>
          <a:ln w="20320">
            <a:solidFill>
              <a:srgbClr val="0B2A6F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886200" y="1956816"/>
            <a:ext cx="914" cy="256032"/>
          </a:xfrm>
          <a:prstGeom prst="line">
            <a:avLst/>
          </a:prstGeom>
          <a:noFill/>
          <a:ln w="2032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80060" y="2221992"/>
            <a:ext cx="1783080" cy="347472"/>
          </a:xfrm>
          <a:prstGeom prst="rect">
            <a:avLst/>
          </a:prstGeom>
          <a:solidFill>
            <a:srgbClr val="EEF4FF"/>
          </a:solidFill>
          <a:ln w="22860">
            <a:solidFill>
              <a:srgbClr val="0B2A6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34924" y="2240280"/>
            <a:ext cx="16733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A6F"/>
                </a:solidFill>
              </a:rPr>
              <a:t>HW Cross-Attention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926080" y="2221992"/>
            <a:ext cx="1920240" cy="347472"/>
          </a:xfrm>
          <a:prstGeom prst="rect">
            <a:avLst/>
          </a:prstGeom>
          <a:solidFill>
            <a:srgbClr val="E6FAF8"/>
          </a:solidFill>
          <a:ln w="2286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980944" y="2240280"/>
            <a:ext cx="181051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Speech Cross-Attention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267712" y="2304288"/>
            <a:ext cx="722376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67712" y="2359152"/>
            <a:ext cx="722376" cy="0"/>
          </a:xfrm>
          <a:prstGeom prst="line">
            <a:avLst/>
          </a:prstGeom>
          <a:noFill/>
          <a:ln w="20320">
            <a:solidFill>
              <a:srgbClr val="0B2A6F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2267712" y="2423160"/>
            <a:ext cx="722376" cy="0"/>
          </a:xfrm>
          <a:prstGeom prst="line">
            <a:avLst/>
          </a:prstGeom>
          <a:noFill/>
          <a:ln w="20320">
            <a:solidFill>
              <a:srgbClr val="0D9488"/>
            </a:solidFill>
            <a:prstDash val="solid"/>
            <a:headEnd type="triangle"/>
            <a:tailEnd type="open"/>
          </a:ln>
        </p:spPr>
      </p:sp>
      <p:sp>
        <p:nvSpPr>
          <p:cNvPr id="43" name="Text 41"/>
          <p:cNvSpPr/>
          <p:nvPr/>
        </p:nvSpPr>
        <p:spPr>
          <a:xfrm>
            <a:off x="2281428" y="2505456"/>
            <a:ext cx="69494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666666"/>
                </a:solidFill>
              </a:rPr>
              <a:t>Bidirectional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1371600" y="2569464"/>
            <a:ext cx="914" cy="164592"/>
          </a:xfrm>
          <a:prstGeom prst="line">
            <a:avLst/>
          </a:prstGeom>
          <a:noFill/>
          <a:ln w="20320">
            <a:solidFill>
              <a:srgbClr val="0B2A6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886200" y="2569464"/>
            <a:ext cx="914" cy="164592"/>
          </a:xfrm>
          <a:prstGeom prst="line">
            <a:avLst/>
          </a:prstGeom>
          <a:noFill/>
          <a:ln w="20320">
            <a:solidFill>
              <a:srgbClr val="0D948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71600" y="2734056"/>
            <a:ext cx="1257300" cy="0"/>
          </a:xfrm>
          <a:prstGeom prst="line">
            <a:avLst/>
          </a:prstGeom>
          <a:noFill/>
          <a:ln w="20320">
            <a:solidFill>
              <a:srgbClr val="0B2A6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628900" y="2734056"/>
            <a:ext cx="1257300" cy="0"/>
          </a:xfrm>
          <a:prstGeom prst="line">
            <a:avLst/>
          </a:prstGeom>
          <a:noFill/>
          <a:ln w="20320">
            <a:solidFill>
              <a:srgbClr val="0D948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628900" y="2734056"/>
            <a:ext cx="914" cy="82296"/>
          </a:xfrm>
          <a:prstGeom prst="line">
            <a:avLst/>
          </a:prstGeom>
          <a:noFill/>
          <a:ln w="20320">
            <a:solidFill>
              <a:srgbClr val="0B2A6F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1549908" y="2816352"/>
            <a:ext cx="2157984" cy="402336"/>
          </a:xfrm>
          <a:prstGeom prst="rect">
            <a:avLst/>
          </a:prstGeom>
          <a:solidFill>
            <a:srgbClr val="FFF7ED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1623060" y="28163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</a:rPr>
              <a:t>Gated Multimodal Unit  (GMU)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623060" y="3044952"/>
            <a:ext cx="20116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B45309"/>
                </a:solidFill>
              </a:rPr>
              <a:t>Learnable sigmoid gate balances HW + Speech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628900" y="3218688"/>
            <a:ext cx="914" cy="237744"/>
          </a:xfrm>
          <a:prstGeom prst="line">
            <a:avLst/>
          </a:prstGeom>
          <a:noFill/>
          <a:ln w="20320">
            <a:solidFill>
              <a:srgbClr val="92400E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1549908" y="3456432"/>
            <a:ext cx="2157984" cy="365760"/>
          </a:xfrm>
          <a:prstGeom prst="rect">
            <a:avLst/>
          </a:prstGeom>
          <a:solidFill>
            <a:srgbClr val="F5F5F5"/>
          </a:solidFill>
          <a:ln w="20320">
            <a:solidFill>
              <a:srgbClr val="5555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1623060" y="345643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Concatenate  +  FC Layer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628900" y="3822192"/>
            <a:ext cx="914" cy="219456"/>
          </a:xfrm>
          <a:prstGeom prst="line">
            <a:avLst/>
          </a:prstGeom>
          <a:noFill/>
          <a:ln w="20320">
            <a:solidFill>
              <a:srgbClr val="0B2A6F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1485900" y="4041648"/>
            <a:ext cx="2286000" cy="475488"/>
          </a:xfrm>
          <a:prstGeom prst="rect">
            <a:avLst/>
          </a:prstGeom>
          <a:solidFill>
            <a:srgbClr val="0B2A6F"/>
          </a:solidFill>
          <a:ln w="25400">
            <a:solidFill>
              <a:srgbClr val="0B2A6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485900" y="4041648"/>
            <a:ext cx="13898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96.94% Accuracy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2875788" y="4041648"/>
            <a:ext cx="8778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DE80"/>
                </a:solidFill>
              </a:rPr>
              <a:t>AUC 0.9995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20040" y="4590288"/>
            <a:ext cx="4617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Bidirectional HW ↔ Speech cross-attention + gating = best overall PD screening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166360" y="694944"/>
            <a:ext cx="37490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5166360" y="694944"/>
            <a:ext cx="374904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285232" y="713232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KEY DESIGN DECISIONS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257800" y="1060704"/>
            <a:ext cx="3566160" cy="822960"/>
          </a:xfrm>
          <a:prstGeom prst="rect">
            <a:avLst/>
          </a:prstGeom>
          <a:solidFill>
            <a:srgbClr val="EEF4F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257800" y="1060704"/>
            <a:ext cx="365760" cy="82296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257800" y="1060704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5687568" y="1115568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6F"/>
                </a:solidFill>
              </a:rPr>
              <a:t>Bidirectional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687568" y="1307592"/>
            <a:ext cx="3063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6F"/>
                </a:solidFill>
              </a:rPr>
              <a:t>Cross-Attention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5687568" y="14813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HW attends to Speech and Speech attends to HW. Each modality guides the other's feature selection via Transformer multi-head attention.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5257800" y="1993392"/>
            <a:ext cx="3566160" cy="82296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257800" y="1993392"/>
            <a:ext cx="365760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257800" y="1993392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5687568" y="2048256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Gated Multimodal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5687568" y="2240280"/>
            <a:ext cx="3063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Unit (GMU)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5687568" y="241401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Learnable sigmoid gate balances HW and Speech embedding contributions dynamically — prevents one modality from dominating.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5257800" y="2926080"/>
            <a:ext cx="3566160" cy="822960"/>
          </a:xfrm>
          <a:prstGeom prst="rect">
            <a:avLst/>
          </a:prstGeom>
          <a:solidFill>
            <a:srgbClr val="EEF4F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257800" y="2926080"/>
            <a:ext cx="365760" cy="82296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257800" y="292608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5687568" y="2980944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6F"/>
                </a:solidFill>
              </a:rPr>
              <a:t>Modality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5687568" y="3172968"/>
            <a:ext cx="3063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6F"/>
                </a:solidFill>
              </a:rPr>
              <a:t>Dropout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5687568" y="3346704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Each modality randomly masked (p=0.2) during training — model stays robust even when one input is missing at inference.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5257800" y="3858768"/>
            <a:ext cx="3566160" cy="822960"/>
          </a:xfrm>
          <a:prstGeom prst="rect">
            <a:avLst/>
          </a:prstGeom>
          <a:solidFill>
            <a:srgbClr val="E6FA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257800" y="3858768"/>
            <a:ext cx="36576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257800" y="3858768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84" name="Text 82"/>
          <p:cNvSpPr/>
          <p:nvPr/>
        </p:nvSpPr>
        <p:spPr>
          <a:xfrm>
            <a:off x="5687568" y="3913632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MC Dropout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5687568" y="4105656"/>
            <a:ext cx="3063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(Uncertainty)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5687568" y="4279392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Monte Carlo Dropout at inference gives calibrated confidence scores for clinical decision support &amp; uncertain cases.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5166360" y="4791456"/>
            <a:ext cx="3749040" cy="16459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212080" y="479145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3C5FD"/>
                </a:solidFill>
              </a:rPr>
              <a:t>+3.37% gain over best unimodal  —  complementary biomarkers + attention fusion wins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228600" y="4974336"/>
            <a:ext cx="8686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VIT-AP  •  Senior Design Project Review-2  •  Multimodal Parkinson's Disease Detection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182880" cy="320040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64408"/>
            <a:ext cx="182880" cy="10972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361688"/>
            <a:ext cx="182880" cy="7818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9144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1D4ED8"/>
                </a:solidFill>
              </a:rPr>
              <a:t>EXPERIMENTAL SETUP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92608" y="256032"/>
            <a:ext cx="384048" cy="34747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25603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86384" y="201168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Training Strategy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92608" y="914400"/>
            <a:ext cx="41605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2608" y="914400"/>
            <a:ext cx="4160520" cy="27432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941832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DATASETS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1298448"/>
            <a:ext cx="3977640" cy="1325880"/>
          </a:xfrm>
          <a:prstGeom prst="rect">
            <a:avLst/>
          </a:prstGeom>
          <a:solidFill>
            <a:srgbClr val="DBEA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1298448"/>
            <a:ext cx="3977640" cy="25603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316736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Handwriting Dataset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1618488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3,264 images • 1,632 HC + 1,632 PD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Spiral &amp; Wave drawings (balanced classes)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Input: 224×224 (HW module), 336×336 (fusion)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16 spatial biomarkers extracted via OpenCV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4048" y="2807208"/>
            <a:ext cx="3977640" cy="1325880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2807208"/>
            <a:ext cx="39776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25496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Speech Dataset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127248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Italian Parkinson's Voice &amp; Speech (IEEE DataPort)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831 recordings • 61 unique patients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Patient-level group splits to avoid speaker leakage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Standardized to 16 kHz, padded/trimmed to &lt;8s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17720" y="914400"/>
            <a:ext cx="425196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914400"/>
            <a:ext cx="42519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941832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TRAINING STRATEGY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1298448"/>
            <a:ext cx="4069080" cy="74980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1298448"/>
            <a:ext cx="64008" cy="74980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35331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6F"/>
                </a:solidFill>
              </a:rPr>
              <a:t>Optimizer &amp; Schedule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46320" y="157276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AdamW (LR: 3e-5 to 5e-5)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OneCycleLR cosine annealing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Gradient clipping (max norm 1.0)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Early stopping (patience 10–12)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2167128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2167128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2219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6F"/>
                </a:solidFill>
              </a:rPr>
              <a:t>Loss &amp; Regularization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46320" y="244144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Focal Loss (α=0.5–0.75, γ=2.0–3.0)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Label smoothing for calibration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Modalitydropout (fusion robustness)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3035808"/>
            <a:ext cx="4069080" cy="74980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3035808"/>
            <a:ext cx="64008" cy="74980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09067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6F"/>
                </a:solidFill>
              </a:rPr>
              <a:t>Data Augmentation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46320" y="331012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Images: flip, rotation ±10°, brightness jitter,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Mixup, TTA (7 transforms)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Audio: SpecAugment, VTLP, TTA (5×)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3904488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9160" y="3904488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95935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6F"/>
                </a:solidFill>
              </a:rPr>
              <a:t>Classical ML Stack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46320" y="417880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RF, SVM, GBM, XGBoost, LightGBM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SMOTE oversampling • PCA (99.5–99.9%)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Meta-learner: Ridge LR stacking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VIT-AP  •  Senior Design Project Review-2  •  Multimodal Parkinson's Disease Detection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182880" cy="320040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64408"/>
            <a:ext cx="182880" cy="10972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361688"/>
            <a:ext cx="182880" cy="7818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9144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1D4ED8"/>
                </a:solidFill>
              </a:rPr>
              <a:t>EVALUATION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92608" y="256032"/>
            <a:ext cx="384048" cy="34747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25603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6384" y="201168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 Comparison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92608" y="914400"/>
            <a:ext cx="8577072" cy="34747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950976"/>
            <a:ext cx="8394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Fusion (CMAFN) achieves 96.94% accuracy &amp; 0.9995 AUC-ROC — Patient-level stratified 5-fold CV (no data leakage)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" y="1371600"/>
            <a:ext cx="2788920" cy="1600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02336" y="1444752"/>
            <a:ext cx="2578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6F"/>
                </a:solidFill>
              </a:rPr>
              <a:t>Module A — Handwriting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2336" y="1682496"/>
            <a:ext cx="25786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6F"/>
                </a:solidFill>
              </a:rPr>
              <a:t>93.57%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02336" y="2231136"/>
            <a:ext cx="2578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AUC  0.985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2336" y="2505456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MLP (16 biomarkers) + EfficientNet-B0 (CBAM)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Logistic Regression meta-learner stacking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0" y="1371600"/>
            <a:ext cx="2788920" cy="160020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10128" y="1444752"/>
            <a:ext cx="2578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Module B — Speech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0128" y="1682496"/>
            <a:ext cx="25786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9488"/>
                </a:solidFill>
              </a:rPr>
              <a:t>91.70%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310128" y="2231136"/>
            <a:ext cx="2578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AUC  0.971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10128" y="2505456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XLS-R BiLSTM + Mel CNN + MFCC + Praat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Multi-head cross-attention + Ridge LR stacking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08192" y="1371600"/>
            <a:ext cx="2788920" cy="160020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17920" y="1444752"/>
            <a:ext cx="2578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Module C — CMAFN Fusion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1682496"/>
            <a:ext cx="25786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96.94%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217920" y="2231136"/>
            <a:ext cx="2578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</a:rPr>
              <a:t>AUC  0.9995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2505456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</a:rPr>
              <a:t>Bidirectional cross-attention + GMU gating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</a:rPr>
              <a:t>+3.37% over best unimodal (handwriting)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92608" y="3090672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92608" y="3090672"/>
            <a:ext cx="4160520" cy="25603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3108960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CMAFN — 5-Fold Balanced Accuracy Stability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4048" y="3429000"/>
            <a:ext cx="685800" cy="34747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447288"/>
            <a:ext cx="685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3C5FD"/>
                </a:solidFill>
              </a:rPr>
              <a:t>Fold 1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84048" y="3593592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99.10%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170432" y="3429000"/>
            <a:ext cx="685800" cy="34747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70432" y="3447288"/>
            <a:ext cx="685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3C5FD"/>
                </a:solidFill>
              </a:rPr>
              <a:t>Fold 2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70432" y="3593592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96.40%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956816" y="3429000"/>
            <a:ext cx="685800" cy="34747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56816" y="3447288"/>
            <a:ext cx="685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3C5FD"/>
                </a:solidFill>
              </a:rPr>
              <a:t>Fold 3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956816" y="3593592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99.46%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43200" y="3429000"/>
            <a:ext cx="685800" cy="34747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0" y="3447288"/>
            <a:ext cx="685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3C5FD"/>
                </a:solidFill>
              </a:rPr>
              <a:t>Fold 4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743200" y="3593592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99.82%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529584" y="3429000"/>
            <a:ext cx="685800" cy="34747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29584" y="3447288"/>
            <a:ext cx="685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3C5FD"/>
                </a:solidFill>
              </a:rPr>
              <a:t>Fold 5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529584" y="3593592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99.82%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84048" y="385876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Mean ± Std: 98.92% ± 1.29%  (Balanced Accuracy across folds)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84048" y="4133088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High fold consistency validates generalization under patient-level grouping.</a:t>
            </a:r>
            <a:endParaRPr lang="en-US" sz="900" dirty="0"/>
          </a:p>
        </p:txBody>
      </p:sp>
      <p:graphicFrame>
        <p:nvGraphicFramePr>
          <p:cNvPr id="47" name="Chart 0" descr=""/>
          <p:cNvGraphicFramePr/>
          <p:nvPr/>
        </p:nvGraphicFramePr>
        <p:xfrm>
          <a:off x="4617720" y="3035808"/>
          <a:ext cx="4206240" cy="17556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8" name="Text 45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VIT-AP  •  Senior Design Project Review-2  •  Multimodal Parkinson's Disease Detection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182880" cy="320040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64408"/>
            <a:ext cx="182880" cy="10972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361688"/>
            <a:ext cx="182880" cy="7818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9144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1D4ED8"/>
                </a:solidFill>
              </a:rPr>
              <a:t>SUMMARY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92608" y="256032"/>
            <a:ext cx="384048" cy="34747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25603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86384" y="201168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92608" y="960120"/>
            <a:ext cx="8577072" cy="841248"/>
          </a:xfrm>
          <a:prstGeom prst="rect">
            <a:avLst/>
          </a:prstGeom>
          <a:solidFill>
            <a:srgbClr val="DBEAFE"/>
          </a:solidFill>
          <a:ln w="12700">
            <a:solidFill>
              <a:srgbClr val="0B2A6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2608" y="960120"/>
            <a:ext cx="502920" cy="84124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21615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96112" y="1051560"/>
            <a:ext cx="7818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6F"/>
                </a:solidFill>
              </a:rPr>
              <a:t>16-Feature Handwriting Biomarker Framework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96112" y="1307592"/>
            <a:ext cx="7818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Extracts clinically relevant spatial cues from spiral/wave drawings: stroke variability, roughness, entropy, fractal dimension, Hu moments, curvature, component density — providing interpretable motor impairment signals.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92608" y="1920240"/>
            <a:ext cx="8577072" cy="84124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92608" y="1920240"/>
            <a:ext cx="502920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17627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6112" y="2011680"/>
            <a:ext cx="7818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Hybrid Speech Pipeline (DL + Classical ML)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6112" y="2267712"/>
            <a:ext cx="7818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Combines self-supervised XLS-R representations with Mel-spectrogram CNN, MFCC, and Praat acoustic measures. Fused via multi-head cross-attention and stacked with Ridge Logistic Regression.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92608" y="2880360"/>
            <a:ext cx="8577072" cy="841248"/>
          </a:xfrm>
          <a:prstGeom prst="rect">
            <a:avLst/>
          </a:prstGeom>
          <a:solidFill>
            <a:srgbClr val="DBEAFE"/>
          </a:solidFill>
          <a:ln w="12700">
            <a:solidFill>
              <a:srgbClr val="0B2A6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92608" y="2880360"/>
            <a:ext cx="502920" cy="84124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31363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96112" y="2971800"/>
            <a:ext cx="7818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6F"/>
                </a:solidFill>
              </a:rPr>
              <a:t>Cross-Modal Attention Fusion Network (CMAFN)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96112" y="3227832"/>
            <a:ext cx="7818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Novel bidirectional Transformer cross-attention (HW↔Speech) + Gated Multimodal Unit (GMU) + modality dropout. Learns complementary motor + vocal biomarker interactions for improved PD screening.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92608" y="3840480"/>
            <a:ext cx="8577072" cy="84124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92608" y="3840480"/>
            <a:ext cx="502920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409651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96112" y="3931920"/>
            <a:ext cx="7818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Deployable End-to-End Web Application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96112" y="4187952"/>
            <a:ext cx="7818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Flask-based real-time screening web app with interactive handwriting and audio inputs. CPU-friendly (&lt;3s inference, ~85 MB INT8 quantized model). Patient-level stratified CV — no data leakage.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92608" y="4773168"/>
            <a:ext cx="8577072" cy="137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VIT-AP  •  Senior Design Project Review-2  •  Multimodal Parkinson's Disease Detection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182880" cy="320040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64408"/>
            <a:ext cx="182880" cy="10972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361688"/>
            <a:ext cx="182880" cy="7818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9144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1D4ED8"/>
                </a:solidFill>
              </a:rPr>
              <a:t>SUMMARY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92608" y="256032"/>
            <a:ext cx="384048" cy="34747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25603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86384" y="201168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92608" y="914400"/>
            <a:ext cx="2788920" cy="7772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" y="95097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2A6F"/>
                </a:solidFill>
              </a:rPr>
              <a:t>93.57%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84048" y="136245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Handwriting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(AUC 0.985)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914400"/>
            <a:ext cx="2788920" cy="77724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91840" y="95097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91.70%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291840" y="136245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Speech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(AUC 0.971)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08192" y="914400"/>
            <a:ext cx="2788920" cy="77724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99632" y="95097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96.94%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99632" y="136245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</a:rPr>
              <a:t>CMAFN Fusion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</a:rPr>
              <a:t>(AUC 0.9995)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92608" y="1828800"/>
            <a:ext cx="8577072" cy="62179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608" y="1828800"/>
            <a:ext cx="64008" cy="62179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189280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6F"/>
                </a:solidFill>
              </a:rPr>
              <a:t>Multimodal AI improves screening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8912" y="213055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Fusing handwriting and speech via CMAFN yields 96.94% accuracy and 0.9995 AUC-ROC — outperforming both unimodal modules and demonstrating that complementary biomarkers strengthen detection.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92608" y="2560320"/>
            <a:ext cx="857707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2608" y="2560320"/>
            <a:ext cx="64008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262432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Complementary biomarkers work synergistically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8912" y="286207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Handwriting captures fine motor impairment (micrographia, tremor cues), while speech captures voice quality degradation (jitter, shimmer, dysarthria). Together they provide richer diagnostic signals than either alone.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92608" y="3291840"/>
            <a:ext cx="8577072" cy="62179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2608" y="3291840"/>
            <a:ext cx="64008" cy="62179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335584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6F"/>
                </a:solidFill>
              </a:rPr>
              <a:t>CMAFN enables SOTA multimodal fusion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8912" y="359359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Transformer-based bidirectional cross-attention explicitly models how handwriting and speech features inform each other. GMU gating prevents one modality from dominating, improving over late/early fusion baselines.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92608" y="4023360"/>
            <a:ext cx="857707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2608" y="4023360"/>
            <a:ext cx="64008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408736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Practical for clinical and remote workflows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38912" y="432511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Non-invasive inputs (spiral drawings + short audio) via consumer hardware. Real-time Flask web app with &lt;3s CPU inference. Patient-level stratified 5-fold CV ensures clinically valid performance estimates.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VIT-AP  •  Senior Design Project Review-2  •  Multimodal Parkinson's Disease Detection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182880" cy="320040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64408"/>
            <a:ext cx="182880" cy="10972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361688"/>
            <a:ext cx="182880" cy="7818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9144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1D4ED8"/>
                </a:solidFill>
              </a:rPr>
              <a:t>ROADMAP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92608" y="256032"/>
            <a:ext cx="384048" cy="34747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25603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86384" y="201168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92608" y="960120"/>
            <a:ext cx="2788920" cy="1828800"/>
          </a:xfrm>
          <a:prstGeom prst="rect">
            <a:avLst/>
          </a:prstGeom>
          <a:solidFill>
            <a:srgbClr val="DBEAFE"/>
          </a:solidFill>
          <a:ln w="12700">
            <a:solidFill>
              <a:srgbClr val="0B2A6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2608" y="960120"/>
            <a:ext cx="2788920" cy="29260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996696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01  Extend Biomarkers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4048" y="1344168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Add gait analysis (IMU sensors), wearable data, and eye-tracking signals as additional non-invasive modalities to further improve screening coverage.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0" y="960120"/>
            <a:ext cx="2788920" cy="182880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960120"/>
            <a:ext cx="2788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996696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02  Longitudinal Monitoring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91840" y="1344168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Track disease progression over time and support staging beyond binary PD/HC classification — enable early-warning trending using repeated measures.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08192" y="960120"/>
            <a:ext cx="2788920" cy="1828800"/>
          </a:xfrm>
          <a:prstGeom prst="rect">
            <a:avLst/>
          </a:prstGeom>
          <a:solidFill>
            <a:srgbClr val="DBEAFE"/>
          </a:solidFill>
          <a:ln w="12700">
            <a:solidFill>
              <a:srgbClr val="0B2A6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08192" y="960120"/>
            <a:ext cx="2788920" cy="29260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9632" y="996696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03  Federated Learning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99632" y="1344168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Multi-center training while keeping patient data local — supports collaboration across hospitals without sharing raw data, enhancing privacy.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92608" y="2971800"/>
            <a:ext cx="2788920" cy="182880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92608" y="2971800"/>
            <a:ext cx="2788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008376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04  Explainable AI (XAI)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4048" y="3355848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Integrate attention map visualization and Grad-CAM for clinician trust. Highlight which handwriting/speech features drive predictions.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0" y="2971800"/>
            <a:ext cx="2788920" cy="1828800"/>
          </a:xfrm>
          <a:prstGeom prst="rect">
            <a:avLst/>
          </a:prstGeom>
          <a:solidFill>
            <a:srgbClr val="DBEAFE"/>
          </a:solidFill>
          <a:ln w="12700">
            <a:solidFill>
              <a:srgbClr val="0B2A6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2971800"/>
            <a:ext cx="2788920" cy="29260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3008376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05  Mobile Deployment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91840" y="3355848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TFLite optimization for on-device real-time screening. Enable low-latency offline inference on mobile devices in remote/rural settings.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08192" y="2971800"/>
            <a:ext cx="2788920" cy="182880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08192" y="2971800"/>
            <a:ext cx="2788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9632" y="3008376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06  Multilingual Speech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99632" y="3355848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Evaluate cross-language generalization beyond Italian dataset. Improve robustness for broader demographic applicability worldwide.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VIT-AP  •  Senior Design Project Review-2  •  Multimodal Parkinson's Disease Detection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182880" cy="320040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64408"/>
            <a:ext cx="182880" cy="10972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361688"/>
            <a:ext cx="182880" cy="7818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9144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1D4ED8"/>
                </a:solidFill>
              </a:rPr>
              <a:t>REFERENCES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92608" y="256032"/>
            <a:ext cx="384048" cy="34747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25603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REF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6384" y="201168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References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92608" y="960120"/>
            <a:ext cx="8577072" cy="713232"/>
          </a:xfrm>
          <a:prstGeom prst="rect">
            <a:avLst/>
          </a:prstGeom>
          <a:solidFill>
            <a:srgbClr val="DBEAFE"/>
          </a:solidFill>
          <a:ln w="12700">
            <a:solidFill>
              <a:srgbClr val="0B2A6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2608" y="960120"/>
            <a:ext cx="411480" cy="71323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1795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[1]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85632" y="1069848"/>
            <a:ext cx="877824" cy="25603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85632" y="1069848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Handwriting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04672" y="1014984"/>
            <a:ext cx="7543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6F"/>
                </a:solidFill>
              </a:rPr>
              <a:t>Pereira et al., 2018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4672" y="123444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"Handwriting dynamics assessment for early identification of Parkinson's disease," Artificial Intelligence in Medicine, 2018.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92608" y="1764792"/>
            <a:ext cx="8577072" cy="71323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1764792"/>
            <a:ext cx="41148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198424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[2]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485632" y="1874520"/>
            <a:ext cx="877824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85632" y="187452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Transfer Learning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04672" y="1819656"/>
            <a:ext cx="7543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Diaz et al., 2021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4672" y="2039112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"A transfer learning approach with MobileNetV2 for Parkinson's disease detection using hand drawings," Expert Systems with Applications, 2021.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92608" y="2569464"/>
            <a:ext cx="8577072" cy="713232"/>
          </a:xfrm>
          <a:prstGeom prst="rect">
            <a:avLst/>
          </a:prstGeom>
          <a:solidFill>
            <a:srgbClr val="DBEAFE"/>
          </a:solidFill>
          <a:ln w="12700">
            <a:solidFill>
              <a:srgbClr val="0B2A6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92608" y="2569464"/>
            <a:ext cx="411480" cy="71323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27889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[3]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485632" y="2679192"/>
            <a:ext cx="877824" cy="25603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85632" y="2679192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Self-supervised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04672" y="2624328"/>
            <a:ext cx="7543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6F"/>
                </a:solidFill>
              </a:rPr>
              <a:t>Baevski et al., 2020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04672" y="2843784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"wav2vec 2.0: A framework for self-supervised learning of speech representations," NeurIPS, 2020.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92608" y="3374136"/>
            <a:ext cx="8577072" cy="71323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92608" y="3374136"/>
            <a:ext cx="41148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2608" y="359359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[4]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485632" y="3483864"/>
            <a:ext cx="877824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85632" y="3483864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XLS-R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04672" y="3429000"/>
            <a:ext cx="7543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Conneau et al., 2021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04672" y="3648456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"Unsupervised cross-lingual representation learning for speech recognition," INTERSPEECH, 2021. (XLS-R)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92608" y="4178808"/>
            <a:ext cx="8577072" cy="713232"/>
          </a:xfrm>
          <a:prstGeom prst="rect">
            <a:avLst/>
          </a:prstGeom>
          <a:solidFill>
            <a:srgbClr val="DBEAFE"/>
          </a:solidFill>
          <a:ln w="12700">
            <a:solidFill>
              <a:srgbClr val="0B2A6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92608" y="4178808"/>
            <a:ext cx="411480" cy="71323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2608" y="4398264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[5]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485632" y="4288536"/>
            <a:ext cx="877824" cy="25603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85632" y="4288536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Augmentation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04672" y="4233672"/>
            <a:ext cx="7543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6F"/>
                </a:solidFill>
              </a:rPr>
              <a:t>Park et al., 2019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04672" y="4453128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"SpecAugment: A simple data augmentation method for automatic speech recognition," INTERSPEECH, 2019.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92608" y="4828032"/>
            <a:ext cx="8577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Full bibliography available in the IEEE paper. Titles and venues shown for quick attribution during presentation.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VIT-AP  •  Senior Design Project Review-2  •  Multimodal Parkinson's Disease Detection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VIT-AP UNIVERSITY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438912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B4FC"/>
                </a:solidFill>
              </a:rPr>
              <a:t>School of Computer Science and Engineering  |  Senior Design Project Review-2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58368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Multimodal Parkinson's Disease Detection using Cross-Modal Attention Fusion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877824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</a:rPr>
              <a:t>Dept. of CSE  •  Amaravati, Andhra Pradesh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53619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Questions? We're happy to discuss methodology, datasets, and deployment details.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724912"/>
            <a:ext cx="1828800" cy="65836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7432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96.94%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31520" y="309067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</a:rPr>
              <a:t>Fusion Accuracy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0" y="2724912"/>
            <a:ext cx="18288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0" y="27432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0.9995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743200" y="309067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F6E4"/>
                </a:solidFill>
              </a:rPr>
              <a:t>AUC-ROC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2724912"/>
            <a:ext cx="1828800" cy="65836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27432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5-fold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54880" y="309067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</a:rPr>
              <a:t>Patient-level CV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66560" y="2724912"/>
            <a:ext cx="18288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66560" y="27432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&lt;3s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766560" y="309067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F6E4"/>
                </a:solidFill>
              </a:rPr>
              <a:t>Inference (CPU)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92608" y="3547872"/>
            <a:ext cx="2798064" cy="111556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1480" y="3611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6F"/>
                </a:solidFill>
              </a:rPr>
              <a:t>Tanguturi Venkata Thanuj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2A6F"/>
                </a:solidFill>
              </a:rPr>
              <a:t>22BCE20003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400507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</a:rPr>
              <a:t>thanuj.22bce20003@vitap.ac.in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36976" y="3547872"/>
            <a:ext cx="2798064" cy="111556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355848" y="3611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6F"/>
                </a:solidFill>
              </a:rPr>
              <a:t>Katam Krishna Chaitanya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2A6F"/>
                </a:solidFill>
              </a:rPr>
              <a:t>22BCE7359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55848" y="400507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</a:rPr>
              <a:t>krishna.22bce7359@vitap.ac.in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81344" y="3547872"/>
            <a:ext cx="2798064" cy="111556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300216" y="3611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6F"/>
                </a:solidFill>
              </a:rPr>
              <a:t>Pathakuntla Narendar Reddy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2A6F"/>
                </a:solidFill>
              </a:rPr>
              <a:t>22BCE7707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00216" y="400507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</a:rPr>
              <a:t>narendar.22bce7707@vitap.ac.in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74320" y="47365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6F"/>
                </a:solidFill>
              </a:rPr>
              <a:t>Guide: Dr. Rajasekhar Boddu — Asst. Professor, CSE, VIT-AP University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" y="493776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VIT-AP  •  CSE  |  For screening research use; confirm diagnosis with clinical evaluation.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Multimodal Parkinson's Disease Detection</dc:title>
  <dc:subject>PptxGenJS Presentation</dc:subject>
  <dc:creator>VIT-AP University</dc:creator>
  <cp:lastModifiedBy>VIT-AP University</cp:lastModifiedBy>
  <cp:revision>1</cp:revision>
  <dcterms:created xsi:type="dcterms:W3CDTF">2026-03-19T09:23:08Z</dcterms:created>
  <dcterms:modified xsi:type="dcterms:W3CDTF">2026-03-19T09:23:08Z</dcterms:modified>
</cp:coreProperties>
</file>