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4396D7-7729-4319-8DE1-367398305C7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(Accuracy %)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51-4F27-86A3-B9B261544F8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51-4F27-86A3-B9B261544F8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51-4F27-86A3-B9B261544F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Attn-CNN (HW)</c:v>
                </c:pt>
                <c:pt idx="1">
                  <c:v>EffNet-B3 (HW)</c:v>
                </c:pt>
                <c:pt idx="2">
                  <c:v>ViT (HW)</c:v>
                </c:pt>
                <c:pt idx="3">
                  <c:v>XGBoost (Speech)</c:v>
                </c:pt>
                <c:pt idx="4">
                  <c:v>Wav2Vec (Speech)</c:v>
                </c:pt>
                <c:pt idx="5">
                  <c:v>Transformer (Speech)</c:v>
                </c:pt>
                <c:pt idx="6">
                  <c:v>Fusion (MM)</c:v>
                </c:pt>
                <c:pt idx="7">
                  <c:v>Triple Fusion (MM)</c:v>
                </c:pt>
                <c:pt idx="8">
                  <c:v>GNN (MM)</c:v>
                </c:pt>
                <c:pt idx="9">
                  <c:v>⭐ CM-AFN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90.1</c:v>
                </c:pt>
                <c:pt idx="1">
                  <c:v>89.5</c:v>
                </c:pt>
                <c:pt idx="2">
                  <c:v>85.7</c:v>
                </c:pt>
                <c:pt idx="3">
                  <c:v>86.7</c:v>
                </c:pt>
                <c:pt idx="4">
                  <c:v>86.8</c:v>
                </c:pt>
                <c:pt idx="5">
                  <c:v>85.3</c:v>
                </c:pt>
                <c:pt idx="6">
                  <c:v>93.1</c:v>
                </c:pt>
                <c:pt idx="7">
                  <c:v>94.3</c:v>
                </c:pt>
                <c:pt idx="8">
                  <c:v>91.5</c:v>
                </c:pt>
                <c:pt idx="9">
                  <c:v>96.94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51-4F27-86A3-B9B261544F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B127146E-5E72-AF82-4056-71449D49674C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8297433" cy="5992061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98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C8A3-632C-1370-5802-BF34EA97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6E631-9DE4-5EEE-7763-B40BA54D9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FC9F2-31BA-D724-4DFF-6BD0AEDB9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1579A-7764-AC44-62D8-9F1CE9832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15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t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"/>
            <a:ext cx="274320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167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7830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Design Project Review-2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286000" y="2148840"/>
            <a:ext cx="45720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22311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Parkinson’s Detection Using Handwriting and Speech</a:t>
            </a:r>
          </a:p>
        </p:txBody>
      </p:sp>
      <p:sp>
        <p:nvSpPr>
          <p:cNvPr id="20" name="Shape 17"/>
          <p:cNvSpPr/>
          <p:nvPr/>
        </p:nvSpPr>
        <p:spPr>
          <a:xfrm>
            <a:off x="365760" y="3822192"/>
            <a:ext cx="384048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3822192"/>
            <a:ext cx="45720" cy="8046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8496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55555"/>
                </a:solidFill>
              </a:rPr>
              <a:t>Guide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02920" y="40416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Dr. Rajasekhar Boddu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" y="424281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Assistant Professor, Dept. of CSE, VIT-AP University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480560" y="3822192"/>
            <a:ext cx="429768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80560" y="3822192"/>
            <a:ext cx="457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7720" y="3849624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55555"/>
                </a:solidFill>
              </a:rPr>
              <a:t>Presented by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94860" y="4119372"/>
            <a:ext cx="40690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Tanguturi Venkata Thanuj (22BCE20003)</a:t>
            </a:r>
            <a:endParaRPr lang="en-US" sz="1050" b="1" dirty="0"/>
          </a:p>
          <a:p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Katam Krishna Chaitanya (22BCE7359)</a:t>
            </a:r>
            <a:endParaRPr lang="en-US" sz="1050" b="1" dirty="0"/>
          </a:p>
          <a:p>
            <a:r>
              <a:rPr lang="en-US" sz="105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Pathakuntla</a:t>
            </a: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Narendar Reddy (22BCE7707)</a:t>
            </a:r>
            <a:endParaRPr lang="en-US" sz="1050" b="1" dirty="0"/>
          </a:p>
        </p:txBody>
      </p:sp>
      <p:sp>
        <p:nvSpPr>
          <p:cNvPr id="30" name="Text 27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Academic Year 2025-26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804672"/>
            <a:ext cx="420624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384048" cy="87782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972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9326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Abstract &amp; 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1225296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Problem, motivation, and approach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828800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828800"/>
            <a:ext cx="384048" cy="87782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12140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" y="19568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Literature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224942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25 existing systems (handwriting, speech, multimodal)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852928"/>
            <a:ext cx="420624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852928"/>
            <a:ext cx="384048" cy="87782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14553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" y="29809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" y="327355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Three-module end-to-end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3877056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877056"/>
            <a:ext cx="384048" cy="87782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416966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" y="40050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429768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Module A: Handwriting  •  Module B: Speech  •  Module C: CMAFN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27448" y="804672"/>
            <a:ext cx="420624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7448" y="804672"/>
            <a:ext cx="384048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10972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2936" y="9326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Datasets &amp; Experimental Setup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02936" y="1225296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3,264 images  •  831 speech recordings  •  Patient-level CV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27448" y="1828800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7448" y="1828800"/>
            <a:ext cx="384048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212140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02936" y="19568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Results &amp; Performance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02936" y="224942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Accuracy  •  AUC-ROC  •  Fold-level stability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27448" y="2852928"/>
            <a:ext cx="4206240" cy="877824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27448" y="2852928"/>
            <a:ext cx="384048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314553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02936" y="298094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Key Contributions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02936" y="327355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CMAFN fusion  •  Flask deployment  •  &lt;3s inference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27448" y="3877056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7448" y="3877056"/>
            <a:ext cx="384048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416966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02936" y="40050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Conclusion &amp; Future Work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02936" y="429768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Multimodal gain  •  Roadmap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749808"/>
            <a:ext cx="8577072" cy="36576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22960"/>
            <a:ext cx="837590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spcAft>
                <a:spcPts val="400"/>
              </a:spcAft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disease (PD) is a progressive neurodegenerative disorder where clinical diagnosis often occurs late, after significant dopaminergic neuron loss. This work proposes a multimodal deep learning framework for non-invasive PD screening by fusing handwriting and speech biomarkers through a novel Cross-Modal Attention Fusion Network (CMAFN). Module A analyzes spiral/wave drawings using 16 engineered spatial biomarkers combined with an EfficientNet-B0 CNN via a meta-learner ensemble, achieving ~93.6% accuracy. Module B processes short voice samples through four complementary pathways — XLS-R self-supervised embeddings, Mel-spectrogram CNN, MFCC, and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Praat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acoustic measures — fused by multi-head cross-attention, achieving ~91.7% accuracy. Module C (CMAFN) integrates both modalities via bidirectional Transformer cross-attention and a Gated Multimodal Unit (GMU), achieving 96.94% accuracy and 0.9995 AUC-ROC. All evaluation uses patient-level stratified 5-fold cross-validation to prevent data leakage. The system is deployed as a Flask web application supporting real-time inference in under 3 seconds on CPU, enabling practical, scalable, and non-invasive PD screening using consumer hardware.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4224528"/>
            <a:ext cx="2066544" cy="56692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425196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96.94%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" y="4517136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</a:rPr>
              <a:t>Fusion 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4224528"/>
            <a:ext cx="206654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425196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0.9995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50592" y="4517136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</a:rPr>
              <a:t>AUC-ROC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4224528"/>
            <a:ext cx="2066544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425196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3 Modules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8576" y="4517136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End-to-end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4224528"/>
            <a:ext cx="2066544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25196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</a:rPr>
              <a:t>5-fold CV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66560" y="4517136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No data leakage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777240"/>
            <a:ext cx="4160520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0467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143000"/>
            <a:ext cx="416052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143000"/>
            <a:ext cx="347472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3990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Late Diagnosis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49047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~60–80% of dopaminergic neurons are lost before motor symptoms become clinically observable.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207568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2075688"/>
            <a:ext cx="347472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33172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16712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High-Cost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42316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Neuroimaging (SPECT/PET) and specialist assessments are expensive and not widely accessible.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3008376"/>
            <a:ext cx="416052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3008376"/>
            <a:ext cx="347472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26440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09981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Subjective Scales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Clinical rating scales (UPDRS, H&amp;Y) vary across examiners; early-stage sensitivity is limited.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394106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3941064"/>
            <a:ext cx="347472" cy="82296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41970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03250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Limited Access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28853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Remote and under-resourced settings lack specialized neurologist access for early PD screening.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777240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80467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PROPOSED SOLUTION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143000"/>
            <a:ext cx="416052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143000"/>
            <a:ext cx="34747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3990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48072" y="123444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Handwriting Biomarkers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48072" y="149047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Spiral/wave drawings + 16 spatial features quantify fine motor degradation (micrographia, tremor cues).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07568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075688"/>
            <a:ext cx="34747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33172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48072" y="216712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Speech Biomarkers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48072" y="242316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XLS-R + MFCC + Praat measures capture dysarthria, jitter, shimmer, and hypophonia patterns.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008376"/>
            <a:ext cx="416052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008376"/>
            <a:ext cx="34747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26440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48072" y="309981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Cross-Modal Fusion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48072" y="335584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CMAFN bidirectional Transformer cross-attention + Gated Multimodal Unit (GMU) learns complementary interactions.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94106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941064"/>
            <a:ext cx="34747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1970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48072" y="403250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Deployable Web App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48072" y="428853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Flask real-time screening; &lt;3s CPU inference; non-invasive; consumer hardware compatible.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804672"/>
            <a:ext cx="8577072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45720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33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89611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6F"/>
                </a:solidFill>
              </a:rPr>
              <a:t>Handwriting Analyzer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15214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Train a dual-pathway model combining 16 engineered spatial biomarkers (MLP) with raw image learning (EfficientNet-B0 + CBAM attention). Meta-learner: Logistic Regression stacking.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645920"/>
            <a:ext cx="85770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645920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173736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Multi-Pathway Speech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199339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Combine self-supervised XLS-R representations (BiLSTM) with Mel-spectrogram CNN, MFCC (+Δ), and Praat acoustic voice-quality measures. Fused via multi-head cross-attention.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487168"/>
            <a:ext cx="8577072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487168"/>
            <a:ext cx="45720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715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57860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6F"/>
                </a:solidFill>
              </a:rPr>
              <a:t>16 Spatial Biomarkers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834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Extract clinically relevant handwriting features: stroke width mean/std, curvature, direction changes, contour roughness, connected component density, ink density, entropy, fractal dimension, Hu moments.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3328416"/>
            <a:ext cx="85770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328416"/>
            <a:ext cx="457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5570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341985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CMAFN Fusion Network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36758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Design Transformer-based bidirectional cross-attention (HW↔Speech) and a Gated Multimodal Unit (GMU) to learn complementary interactions across motor + voice biomarkers.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4169664"/>
            <a:ext cx="8577072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4169664"/>
            <a:ext cx="45720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398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426110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6F"/>
                </a:solidFill>
              </a:rPr>
              <a:t>Real-Time Web 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51713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Deploy as a Flask web application with interactive handwriting and audio inputs; CPU-friendly inference (&lt;3s); INT8 quantized model (~85 MB); patient-level validation.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– Handwriting-Based PD Detection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1752" y="6583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 No.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0392" y="6583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Title &amp; Year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42232" y="658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36792" y="65836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75320" y="65836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932688"/>
            <a:ext cx="8686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932688"/>
            <a:ext cx="576072" cy="493776"/>
          </a:xfrm>
          <a:prstGeom prst="rect">
            <a:avLst/>
          </a:prstGeom>
          <a:solidFill>
            <a:srgbClr val="E8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32688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6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9784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Automated PD Detection using DL on Spiral Drawings (2023)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96512" y="978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6F"/>
                </a:solidFill>
              </a:rPr>
              <a:t>ResNet50 + Transfer Learning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45352" y="9784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NewHandPD (204)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47888" y="1024128"/>
            <a:ext cx="64008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02412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87.2%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93268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0792" y="93268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93268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93268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1449324"/>
            <a:ext cx="8686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1449324"/>
            <a:ext cx="576072" cy="493776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449324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6F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149504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CNN-Based Handwriting Analysis for PD Diagnosis (2024)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96512" y="149504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6F"/>
                </a:solidFill>
              </a:rPr>
              <a:t>EfficientNet-B3 + Data Augmentation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45352" y="14950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Custom (450 images)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47888" y="1540764"/>
            <a:ext cx="64008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15407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89.5%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" y="144932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50792" y="144932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144932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11312" y="144932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1965960"/>
            <a:ext cx="8686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1965960"/>
            <a:ext cx="576072" cy="493776"/>
          </a:xfrm>
          <a:prstGeom prst="rect">
            <a:avLst/>
          </a:prstGeom>
          <a:solidFill>
            <a:srgbClr val="E8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1965960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6F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201168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Vision Transformer for Parkinson's Detection (2023)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96512" y="20116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6F"/>
                </a:solidFill>
              </a:rPr>
              <a:t>ViT-Base with Fine-tuning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45352" y="2011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PaHaW Dataset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47888" y="2057400"/>
            <a:ext cx="64008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20574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85.7%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4672" y="196596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50792" y="196596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5352" y="196596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11312" y="196596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2482596"/>
            <a:ext cx="8686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2482596"/>
            <a:ext cx="576072" cy="493776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2482596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6F"/>
                </a:solidFill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1248" y="252831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Ensemble Deep Learning for PD Screening (2022)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096512" y="25283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6F"/>
                </a:solidFill>
              </a:rPr>
              <a:t>ResNet + VGG + Inception Ensemble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45352" y="252831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Combined (600 samples)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47888" y="2574036"/>
            <a:ext cx="64008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7888" y="25740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88.8%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4672" y="2482596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50792" y="2482596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45352" y="2482596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11312" y="2482596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2999232"/>
            <a:ext cx="8686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" y="2999232"/>
            <a:ext cx="576072" cy="493776"/>
          </a:xfrm>
          <a:prstGeom prst="rect">
            <a:avLst/>
          </a:prstGeom>
          <a:solidFill>
            <a:srgbClr val="E8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2999232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6F"/>
                </a:solidFill>
              </a:rPr>
              <a:t>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41248" y="304495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GAN-Augmented DL for Micrographia Detection (2023)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096512" y="30449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6F"/>
                </a:solidFill>
              </a:rPr>
              <a:t>StyleGAN2 + DenseNet121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45352" y="304495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Synthetic+Real (800)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247888" y="3090672"/>
            <a:ext cx="64008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47888" y="30906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86.4%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4672" y="2999232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50792" y="2999232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45352" y="2999232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11312" y="2999232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" y="3515868"/>
            <a:ext cx="8686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600" y="3515868"/>
            <a:ext cx="576072" cy="493776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8600" y="3515868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6F"/>
                </a:solidFill>
              </a:rPr>
              <a:t>6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41248" y="356158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Attention-Based CNN for Spiral Drawing Analysis (2024)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096512" y="35615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6F"/>
                </a:solidFill>
              </a:rPr>
              <a:t>Custom CNN with Spatial Attention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245352" y="35615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NewHandPD + PaHaW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247888" y="3607308"/>
            <a:ext cx="64008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47888" y="36073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90.1%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04672" y="351586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50792" y="351586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45352" y="351586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11312" y="351586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8600" y="4032504"/>
            <a:ext cx="8686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28600" y="4032504"/>
            <a:ext cx="576072" cy="493776"/>
          </a:xfrm>
          <a:prstGeom prst="rect">
            <a:avLst/>
          </a:prstGeom>
          <a:solidFill>
            <a:srgbClr val="E8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" y="4032504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6F"/>
                </a:solidFill>
              </a:rPr>
              <a:t>7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841248" y="407822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Multi-Task Learning for PD Severity Assessment (2022)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4096512" y="407822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6F"/>
                </a:solidFill>
              </a:rPr>
              <a:t>MTL-CNN (Classification + Regression)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245352" y="40782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Clinical Dataset (380)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247888" y="4123944"/>
            <a:ext cx="64008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47888" y="412394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84.6%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04672" y="403250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050792" y="403250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45352" y="403250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11312" y="403250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8600" y="4549140"/>
            <a:ext cx="8686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28600" y="4549140"/>
            <a:ext cx="576072" cy="493776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28600" y="4549140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6F"/>
                </a:solidFill>
              </a:rPr>
              <a:t>8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841248" y="459486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Explainable AI for Handwriting-Based PD Detection (2023)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4096512" y="45948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A6F"/>
                </a:solidFill>
              </a:rPr>
              <a:t>ResNet34 + GradCAM Visualization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245352" y="45948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NewHandPD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8247888" y="4640580"/>
            <a:ext cx="64008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47888" y="46405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87.8%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04672" y="454914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50792" y="454914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45352" y="454914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211312" y="454914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– Speech-Based PD Detection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1752" y="6583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 No.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0392" y="6583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Title &amp; Year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42232" y="658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36792" y="65836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75320" y="65836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932688"/>
            <a:ext cx="8686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932688"/>
            <a:ext cx="576072" cy="493776"/>
          </a:xfrm>
          <a:prstGeom prst="rect">
            <a:avLst/>
          </a:prstGeom>
          <a:solidFill>
            <a:srgbClr val="E0F4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32688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9784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Deep Learning on Voice Recordings for PD Diagnosis (2024)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96512" y="978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1D-CNN on MFCC Features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45352" y="97840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PC-GITA Dataset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47888" y="1024128"/>
            <a:ext cx="640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02412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83.5%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93268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0792" y="93268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93268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93268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1449324"/>
            <a:ext cx="8686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1449324"/>
            <a:ext cx="576072" cy="493776"/>
          </a:xfrm>
          <a:prstGeom prst="rect">
            <a:avLst/>
          </a:prstGeom>
          <a:solidFill>
            <a:srgbClr val="EAF9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449324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149504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Transformer-Based Speech Analysis for Parkinson's (2023)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96512" y="149504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Speech Transformer + Acoustic Features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45352" y="149504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Italian Parkinson's Voice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47888" y="1540764"/>
            <a:ext cx="640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15407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85.3%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" y="144932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50792" y="144932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144932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11312" y="144932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1965960"/>
            <a:ext cx="8686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1965960"/>
            <a:ext cx="576072" cy="493776"/>
          </a:xfrm>
          <a:prstGeom prst="rect">
            <a:avLst/>
          </a:prstGeom>
          <a:solidFill>
            <a:srgbClr val="E0F4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1965960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201168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CNN-LSTM Hybrid for PD Voice Analysis (2022)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96512" y="20116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BiLSTM + CNN on Spectrograms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45352" y="2011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mPower Dataset (1,200)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47888" y="2057400"/>
            <a:ext cx="640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20574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84.2%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4672" y="196596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50792" y="196596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5352" y="196596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11312" y="196596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2482596"/>
            <a:ext cx="8686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2482596"/>
            <a:ext cx="576072" cy="493776"/>
          </a:xfrm>
          <a:prstGeom prst="rect">
            <a:avLst/>
          </a:prstGeom>
          <a:solidFill>
            <a:srgbClr val="EAF9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2482596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12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1248" y="252831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Multi-Feature Fusion for PD Speech Detection (2024)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096512" y="25283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XGBoost on 132 Acoustic Features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45352" y="252831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Sakar Dataset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47888" y="2574036"/>
            <a:ext cx="640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7888" y="25740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86.7%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4672" y="2482596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50792" y="2482596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45352" y="2482596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11312" y="2482596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2999232"/>
            <a:ext cx="8686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" y="2999232"/>
            <a:ext cx="576072" cy="493776"/>
          </a:xfrm>
          <a:prstGeom prst="rect">
            <a:avLst/>
          </a:prstGeom>
          <a:solidFill>
            <a:srgbClr val="E0F4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2999232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41248" y="304495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Mel-Spectrogram CNN for Dysarthria Detection (2023)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096512" y="30449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ResNet18 on Mel-Spectrograms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45352" y="304495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Custom (650 recordings)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247888" y="3090672"/>
            <a:ext cx="640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47888" y="30906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83.9%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4672" y="2999232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50792" y="2999232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45352" y="2999232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11312" y="2999232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" y="3515868"/>
            <a:ext cx="8686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600" y="3515868"/>
            <a:ext cx="576072" cy="493776"/>
          </a:xfrm>
          <a:prstGeom prst="rect">
            <a:avLst/>
          </a:prstGeom>
          <a:solidFill>
            <a:srgbClr val="EAF9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8600" y="3515868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14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41248" y="356158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Wav2Vec 2.0 Fine-Tuning for PD Detection (2024)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096512" y="35615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Pre-trained Wav2Vec 2.0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245352" y="35615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Multiple Datasets Combined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247888" y="3607308"/>
            <a:ext cx="640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47888" y="36073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86.8%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04672" y="351586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50792" y="351586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45352" y="351586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11312" y="3515868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8600" y="4032504"/>
            <a:ext cx="8686800" cy="49377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28600" y="4032504"/>
            <a:ext cx="576072" cy="493776"/>
          </a:xfrm>
          <a:prstGeom prst="rect">
            <a:avLst/>
          </a:prstGeom>
          <a:solidFill>
            <a:srgbClr val="E0F4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" y="4032504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15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841248" y="407822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Jitter-Shimmer Analysis with Deep Neural Networks (2022)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4096512" y="407822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Fully Connected DNN on Voice Features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245352" y="40782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PC-GITA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247888" y="4123944"/>
            <a:ext cx="640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47888" y="412394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81.4%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04672" y="403250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050792" y="403250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45352" y="403250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211312" y="4032504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8600" y="4549140"/>
            <a:ext cx="8686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28600" y="4549140"/>
            <a:ext cx="576072" cy="493776"/>
          </a:xfrm>
          <a:prstGeom prst="rect">
            <a:avLst/>
          </a:prstGeom>
          <a:solidFill>
            <a:srgbClr val="EAF9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28600" y="4549140"/>
            <a:ext cx="576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16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841248" y="459486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Capsule Networks for PD Voice Classification (2023)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4096512" y="45948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CapsNet on MFCC + Prosody Features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245352" y="45948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mPower + PC-GITA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8247888" y="4640580"/>
            <a:ext cx="6400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47888" y="46405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84.5%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04672" y="454914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50792" y="454914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45352" y="454914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211312" y="4549140"/>
            <a:ext cx="0" cy="49377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– Multi-Modal &amp; Recent Approaches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1752" y="6583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 No.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0392" y="6583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Title &amp; Year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59352" y="658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Methodology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53912" y="6583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83880" y="65836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932688"/>
            <a:ext cx="8686800" cy="446227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932688"/>
            <a:ext cx="576072" cy="446227"/>
          </a:xfrm>
          <a:prstGeom prst="rect">
            <a:avLst/>
          </a:prstGeom>
          <a:solidFill>
            <a:srgbClr val="E8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32688"/>
            <a:ext cx="576072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17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969264"/>
            <a:ext cx="3017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Multi-Modal PD Detection: Gait + Speech (2023)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59352" y="969264"/>
            <a:ext cx="20848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6F"/>
                </a:solidFill>
              </a:rPr>
              <a:t>Late Fusion CNN + LSTM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53912" y="969264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Custom Multi-Modal Dataset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65592" y="1014984"/>
            <a:ext cx="713232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5592" y="101498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91.2%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932688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13632" y="932688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932688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932688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1397203"/>
            <a:ext cx="8686800" cy="44622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1397203"/>
            <a:ext cx="576072" cy="446227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397203"/>
            <a:ext cx="576072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18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1433779"/>
            <a:ext cx="3017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Handwriting + MRI Fusion for PD Diagnosis (2022)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59352" y="1433779"/>
            <a:ext cx="20848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6F"/>
                </a:solidFill>
              </a:rPr>
              <a:t>Early Fusion ResNet + 3D-CNN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53912" y="1433779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Clinical Multi-Modal Data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65592" y="1479499"/>
            <a:ext cx="713232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1479499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90.7%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" y="1397203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13632" y="1397203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8192" y="1397203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9872" y="1397203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1861718"/>
            <a:ext cx="8686800" cy="446227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1861718"/>
            <a:ext cx="576072" cy="446227"/>
          </a:xfrm>
          <a:prstGeom prst="rect">
            <a:avLst/>
          </a:prstGeom>
          <a:solidFill>
            <a:srgbClr val="E8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1861718"/>
            <a:ext cx="576072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19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" y="1898294"/>
            <a:ext cx="3017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Speech + Facial Expression Analysis for PD (2024)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59352" y="1898294"/>
            <a:ext cx="20848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6F"/>
                </a:solidFill>
              </a:rPr>
              <a:t>Attention-Based Multi-Modal Fusion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53912" y="1898294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Video + Audio (320 patients)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65592" y="1944014"/>
            <a:ext cx="713232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65592" y="1944014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93.1%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4672" y="1861718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13632" y="1861718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08192" y="1861718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19872" y="1861718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2326234"/>
            <a:ext cx="8686800" cy="44622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2326234"/>
            <a:ext cx="576072" cy="446227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2326234"/>
            <a:ext cx="576072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20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1248" y="2362810"/>
            <a:ext cx="3017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Triple-Modal: Gait + Speech + Handwriting (2023)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959352" y="2362810"/>
            <a:ext cx="20848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6F"/>
                </a:solidFill>
              </a:rPr>
              <a:t>Hierarchical Fusion Network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53912" y="2362810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Custom (280 subjects)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65592" y="2408530"/>
            <a:ext cx="713232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65592" y="240853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94.3%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4672" y="232623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13632" y="232623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08192" y="232623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19872" y="232623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2790749"/>
            <a:ext cx="8686800" cy="446227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" y="2790749"/>
            <a:ext cx="576072" cy="446227"/>
          </a:xfrm>
          <a:prstGeom prst="rect">
            <a:avLst/>
          </a:prstGeom>
          <a:solidFill>
            <a:srgbClr val="E8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2790749"/>
            <a:ext cx="576072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21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41248" y="2827325"/>
            <a:ext cx="3017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Meta-Learning for Multi-Modal PD Classification (2024)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959352" y="2827325"/>
            <a:ext cx="20848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6F"/>
                </a:solidFill>
              </a:rPr>
              <a:t>MAML on Speech + Handwriting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53912" y="2827325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Combined Datasets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65592" y="2873045"/>
            <a:ext cx="713232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65592" y="2873045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92.8%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4672" y="2790749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913632" y="2790749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08192" y="2790749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119872" y="2790749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" y="3255264"/>
            <a:ext cx="8686800" cy="44622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600" y="3255264"/>
            <a:ext cx="576072" cy="446227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8600" y="3255264"/>
            <a:ext cx="576072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22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41248" y="3291840"/>
            <a:ext cx="3017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Graph Neural Network for Multi-Feature PD (2023)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959352" y="3291840"/>
            <a:ext cx="20848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6F"/>
                </a:solidFill>
              </a:rPr>
              <a:t>GNN on Feature Correlation Graph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153912" y="3291840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Multi-Modal Clinical Data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165592" y="3337560"/>
            <a:ext cx="713232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65592" y="33375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91.5%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04672" y="325526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13632" y="325526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08192" y="325526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19872" y="325526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8600" y="3719779"/>
            <a:ext cx="8686800" cy="446227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28600" y="3719779"/>
            <a:ext cx="576072" cy="446227"/>
          </a:xfrm>
          <a:prstGeom prst="rect">
            <a:avLst/>
          </a:prstGeom>
          <a:solidFill>
            <a:srgbClr val="E8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" y="3719779"/>
            <a:ext cx="576072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23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41248" y="3756355"/>
            <a:ext cx="3017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Federated Learning for Privacy-Preserving PD (2024)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959352" y="3756355"/>
            <a:ext cx="20848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6F"/>
                </a:solidFill>
              </a:rPr>
              <a:t>Federated ResNet on Handwriting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153912" y="3756355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Distributed (1,500 samples)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165592" y="3802075"/>
            <a:ext cx="713232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65592" y="3802075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88.8%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04672" y="3719779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913632" y="3719779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08192" y="3719779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119872" y="3719779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8600" y="4184294"/>
            <a:ext cx="8686800" cy="446227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28600" y="4184294"/>
            <a:ext cx="576072" cy="446227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28600" y="4184294"/>
            <a:ext cx="576072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24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841248" y="4220870"/>
            <a:ext cx="3017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Self-Supervised Learning for PD Speech (2023)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959352" y="4220870"/>
            <a:ext cx="20848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2A6F"/>
                </a:solidFill>
              </a:rPr>
              <a:t>SimCLR Pre-training + Fine-tuning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153912" y="4220870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Unlabeled + Labeled Speech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165592" y="4266590"/>
            <a:ext cx="713232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65592" y="426659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86.4%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04672" y="418429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913632" y="418429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08192" y="418429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119872" y="4184294"/>
            <a:ext cx="0" cy="44622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28600" y="4645152"/>
            <a:ext cx="8686800" cy="292608"/>
          </a:xfrm>
          <a:prstGeom prst="rect">
            <a:avLst/>
          </a:prstGeom>
          <a:solidFill>
            <a:srgbClr val="F5F5F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★  Ours (CMAFN):  Handwriting + Speech  →  Bidirectional Cross-Attention + GMU  →  96.94% Accuracy  |  AUC 0.9995  (Patient-level 5-fold CV)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554480" cy="1005840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554480" cy="5486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14081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INPUT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Handwriting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Spiral/Wave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224×224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1554480" cy="1005840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377440"/>
            <a:ext cx="1554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468880"/>
            <a:ext cx="14081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INPUT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Speech Audio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16 kHz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&lt; 8 seconds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1508760"/>
            <a:ext cx="34747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28800" y="2880360"/>
            <a:ext cx="34747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76272" y="914400"/>
            <a:ext cx="1920240" cy="1188720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6272" y="914400"/>
            <a:ext cx="1920240" cy="5486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424" y="1005840"/>
            <a:ext cx="1773936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MODULE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Handwriting Analysis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MLP + EfficientNet-B0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16 Biomarkers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31136" y="1532534"/>
            <a:ext cx="1810512" cy="523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Acc ≈ 93.6%  |  AUC 0.985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76272" y="2286000"/>
            <a:ext cx="1920240" cy="1188720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76272" y="228600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9424" y="2377440"/>
            <a:ext cx="1773936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MODULE 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Speech Analysis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XLS-R + BiLSTM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MFCC + Praat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31136" y="2904134"/>
            <a:ext cx="1810512" cy="523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Acc ≈ 91.7%  |  AUC 0.971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96512" y="1389888"/>
            <a:ext cx="329184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96512" y="2761488"/>
            <a:ext cx="329184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25696" y="1188720"/>
            <a:ext cx="2194560" cy="2011680"/>
          </a:xfrm>
          <a:prstGeom prst="rect">
            <a:avLst/>
          </a:prstGeom>
          <a:solidFill>
            <a:srgbClr val="F0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25696" y="1188720"/>
            <a:ext cx="2194560" cy="5486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1280160"/>
            <a:ext cx="2048256" cy="965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MODULE 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CMAFN Fusion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Bidirectional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Cross-Attention + GMU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Acc = 96.94%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0" y="2234794"/>
            <a:ext cx="2084832" cy="8851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AUC 0.9995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20256" y="2103120"/>
            <a:ext cx="34747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67728" y="1463040"/>
            <a:ext cx="1508760" cy="1280160"/>
          </a:xfrm>
          <a:prstGeom prst="rect">
            <a:avLst/>
          </a:prstGeom>
          <a:solidFill>
            <a:srgbClr val="F5F5F5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67728" y="1463040"/>
            <a:ext cx="150876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554480"/>
            <a:ext cx="136245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</a:rPr>
              <a:t>PD Risk: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</a:rPr>
              <a:t>LOW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</a:rPr>
              <a:t>MODERATE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</a:rPr>
              <a:t>HIGH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1168" y="3493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Non-invasive Inputs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03120" y="35844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6F"/>
                </a:solidFill>
              </a:rPr>
              <a:t>Unimodal Modules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89120" y="33101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6F"/>
                </a:solidFill>
              </a:rPr>
              <a:t>Cross-Modal Fusion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03720" y="28529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55555"/>
                </a:solidFill>
              </a:rPr>
              <a:t>Clinical Decision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2608" y="4114800"/>
            <a:ext cx="2084832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4114800"/>
            <a:ext cx="2084832" cy="457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1879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Flask Web App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4048" y="440740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Real-time inference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87168" y="4114800"/>
            <a:ext cx="2084832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87168" y="4114800"/>
            <a:ext cx="208483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608" y="41879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CPU-friendly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78608" y="440740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&lt; 3s end-to-end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81728" y="4114800"/>
            <a:ext cx="2084832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1728" y="4114800"/>
            <a:ext cx="2084832" cy="457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41879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Patient-level CV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73168" y="440740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5-fold, no leakage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76288" y="4114800"/>
            <a:ext cx="2084832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76288" y="4114800"/>
            <a:ext cx="208483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4187952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</a:rPr>
              <a:t>~85 MB Model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967728" y="4407408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INT8 quantized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384048" cy="3840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914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2A6F"/>
                </a:solidFill>
              </a:rPr>
              <a:t>MODULE A  —  Handwriting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2743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223760" y="73152"/>
            <a:ext cx="914400" cy="47548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93.6%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3291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BEAFE"/>
                </a:solidFill>
              </a:rPr>
              <a:t>Accuracy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74736" y="73152"/>
            <a:ext cx="7498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4736" y="914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0.985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74736" y="32918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FBF1"/>
                </a:solidFill>
              </a:rPr>
              <a:t>AUC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749808"/>
            <a:ext cx="413308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749808"/>
            <a:ext cx="4133088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76809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ARCHITECTURE  —  Fig. 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8096" y="969264"/>
            <a:ext cx="3108960" cy="365760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99669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Handwriting Image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1152144"/>
            <a:ext cx="2999232" cy="160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(Spiral / Wave Drawing)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22576" y="1335024"/>
            <a:ext cx="914" cy="18288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6696" y="1517904"/>
            <a:ext cx="2651760" cy="329184"/>
          </a:xfrm>
          <a:prstGeom prst="rect">
            <a:avLst/>
          </a:prstGeom>
          <a:solidFill>
            <a:srgbClr val="F0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1545336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16 Spatial Biomarkers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51560" y="1682496"/>
            <a:ext cx="2542032" cy="144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OpenCV feature extraction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22576" y="1847088"/>
            <a:ext cx="914" cy="9144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99616" y="1938528"/>
            <a:ext cx="1645920" cy="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9616" y="1938528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145536" y="1938528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520" y="2048256"/>
            <a:ext cx="1536192" cy="475488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06654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6F"/>
                </a:solidFill>
              </a:rPr>
              <a:t>MLP Path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6384" y="228600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16 engineered features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77440" y="2048256"/>
            <a:ext cx="1536192" cy="475488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32304" y="206654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</a:rPr>
              <a:t>CNN Path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32304" y="228600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EfficientNet-B0 + CBAM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499616" y="2523744"/>
            <a:ext cx="914" cy="128016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45536" y="2523744"/>
            <a:ext cx="914" cy="128016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99616" y="2651760"/>
            <a:ext cx="1645920" cy="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22576" y="2651760"/>
            <a:ext cx="914" cy="9144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88136" y="2743200"/>
            <a:ext cx="2468880" cy="438912"/>
          </a:xfrm>
          <a:prstGeom prst="rect">
            <a:avLst/>
          </a:prstGeom>
          <a:solidFill>
            <a:srgbClr val="F0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61288" y="2761488"/>
            <a:ext cx="23225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61288" y="2980944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Meta-learner stacking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22576" y="3182112"/>
            <a:ext cx="914" cy="20116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88136" y="3383280"/>
            <a:ext cx="2468880" cy="457200"/>
          </a:xfrm>
          <a:prstGeom prst="rect">
            <a:avLst/>
          </a:prstGeom>
          <a:solidFill>
            <a:srgbClr val="0B2A6F"/>
          </a:solidFill>
          <a:ln w="25400">
            <a:solidFill>
              <a:srgbClr val="0B2A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8136" y="33832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93.6%  Accuracy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505456" y="338328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</a:rPr>
              <a:t>AUC  0.985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7472" y="391363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Patient-level stratified 5-fold cross-validation  •  No data leakage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53712" y="749808"/>
            <a:ext cx="433425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53712" y="749808"/>
            <a:ext cx="4334256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7680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16 SPATIAL BIOMARKERS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45152" y="1097280"/>
            <a:ext cx="416052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45152" y="1097280"/>
            <a:ext cx="384048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1097280"/>
            <a:ext cx="3840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102352" y="118872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Stroke &amp; Thickness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02352" y="14813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Stroke width mean  •  Stroke width std  •  Width variability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45152" y="2048256"/>
            <a:ext cx="4160520" cy="841248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45152" y="2048256"/>
            <a:ext cx="38404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45152" y="2048256"/>
            <a:ext cx="3840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102352" y="213969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Geometry &amp; Smoothness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102352" y="243230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Curvature mean  •  Direction changes  •  Contour roughness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45152" y="2999232"/>
            <a:ext cx="416052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45152" y="2999232"/>
            <a:ext cx="384048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45152" y="2999232"/>
            <a:ext cx="3840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102352" y="309067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Density &amp; Components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102352" y="3383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Connected component density  •  Ink density  •  Edge density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45152" y="3950208"/>
            <a:ext cx="4160520" cy="841248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45152" y="3950208"/>
            <a:ext cx="38404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45152" y="3950208"/>
            <a:ext cx="3840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102352" y="404164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Statistics &amp; Complexity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102352" y="433425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Entropy  •  Fractal dimension  •  Hu moments (1–7)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553712" y="4791456"/>
            <a:ext cx="4334256" cy="16459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99432" y="4800600"/>
            <a:ext cx="42428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BEAFE"/>
                </a:solidFill>
              </a:rPr>
              <a:t>Captures tremor, micrographia &amp; motor control degradation — portable, non-invasive input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9144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</a:rPr>
              <a:t>MODULE B  —  Speech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2743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223760" y="73152"/>
            <a:ext cx="9144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91.7%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3291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FBF1"/>
                </a:solidFill>
              </a:rPr>
              <a:t>Accuracy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74736" y="73152"/>
            <a:ext cx="749808" cy="47548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4736" y="914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0.971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74736" y="32918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BEAFE"/>
                </a:solidFill>
              </a:rPr>
              <a:t>AUC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749808"/>
            <a:ext cx="413308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749808"/>
            <a:ext cx="413308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76809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ARCHITECTURE  —  Fig. 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0976" y="1042416"/>
            <a:ext cx="2743200" cy="384048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104241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Speech Audio  (16 kHz, &lt; 8s)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22576" y="1426464"/>
            <a:ext cx="914" cy="9144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1517904"/>
            <a:ext cx="2633472" cy="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1517904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883664" y="1517904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61488" y="1517904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39312" y="1517904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2064" y="1627632"/>
            <a:ext cx="987552" cy="512064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1645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6F"/>
                </a:solidFill>
              </a:rPr>
              <a:t>XLS-R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1883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</a:rPr>
              <a:t>BiLSTM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389888" y="1627632"/>
            <a:ext cx="987552" cy="512064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26464" y="1645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Mel-Spec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26464" y="1883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</a:rPr>
              <a:t>CNN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67712" y="1627632"/>
            <a:ext cx="987552" cy="512064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04288" y="1645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6F"/>
                </a:solidFill>
              </a:rPr>
              <a:t>MFCC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04288" y="1883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</a:rPr>
              <a:t>+Delta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45536" y="1627632"/>
            <a:ext cx="987552" cy="512064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1645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Praat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82112" y="1883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</a:rPr>
              <a:t>Acoustic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05840" y="2139696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83664" y="2139696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61488" y="2139696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39312" y="2139696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" y="2249424"/>
            <a:ext cx="2633472" cy="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22576" y="2249424"/>
            <a:ext cx="914" cy="73152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05840" y="2322576"/>
            <a:ext cx="2633472" cy="402336"/>
          </a:xfrm>
          <a:prstGeom prst="rect">
            <a:avLst/>
          </a:prstGeom>
          <a:solidFill>
            <a:srgbClr val="EEF4FF"/>
          </a:solidFill>
          <a:ln w="22860">
            <a:solidFill>
              <a:srgbClr val="0B2A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8992" y="23225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6F"/>
                </a:solidFill>
              </a:rPr>
              <a:t>Multi-Head Cross-Attention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22576" y="2724912"/>
            <a:ext cx="914" cy="9144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82496" y="2816352"/>
            <a:ext cx="1280160" cy="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2496" y="2816352"/>
            <a:ext cx="914" cy="9144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962656" y="2816352"/>
            <a:ext cx="914" cy="9144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005840" y="2907792"/>
            <a:ext cx="1261872" cy="402336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0704" y="2907792"/>
            <a:ext cx="1152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Deep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2A6F"/>
                </a:solidFill>
              </a:rPr>
              <a:t>Learning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377440" y="2907792"/>
            <a:ext cx="1261872" cy="402336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32304" y="2907792"/>
            <a:ext cx="1152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Classical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ML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682496" y="3310128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62656" y="3310128"/>
            <a:ext cx="914" cy="10972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82496" y="3419856"/>
            <a:ext cx="1280160" cy="0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22576" y="3419856"/>
            <a:ext cx="914" cy="73152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88136" y="3493008"/>
            <a:ext cx="2468880" cy="384048"/>
          </a:xfrm>
          <a:prstGeom prst="rect">
            <a:avLst/>
          </a:prstGeom>
          <a:solidFill>
            <a:srgbClr val="F0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61288" y="349300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A6F"/>
                </a:solidFill>
              </a:rPr>
              <a:t>Ridge Logistic Regression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322576" y="3877056"/>
            <a:ext cx="914" cy="201168"/>
          </a:xfrm>
          <a:prstGeom prst="line">
            <a:avLst/>
          </a:prstGeom>
          <a:noFill/>
          <a:ln w="1778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88136" y="4078224"/>
            <a:ext cx="2468880" cy="457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88136" y="40782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91.7%  Accuracy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2505456" y="4078224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FBF1"/>
                </a:solidFill>
              </a:rPr>
              <a:t>AUC  0.971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47472" y="4590288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Fig. B — 4-pathway speech module with cross-attention fusion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53712" y="749808"/>
            <a:ext cx="433425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53712" y="749808"/>
            <a:ext cx="4334256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45152" y="7680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PATHWAY DETAILS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645152" y="1097280"/>
            <a:ext cx="4160520" cy="841248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45152" y="1097280"/>
            <a:ext cx="38404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45152" y="1097280"/>
            <a:ext cx="3840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5102352" y="118872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XLS-R + BiLSTM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02352" y="14813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Self-supervised wav2vec 2.0 multilingual (300M). Attentive pooling + BiLSTM captures phonetic, prosodic and articulation patterns far beyond manual features.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645152" y="2048256"/>
            <a:ext cx="416052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45152" y="2048256"/>
            <a:ext cx="384048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45152" y="2048256"/>
            <a:ext cx="3840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102352" y="213969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Mel-Spectrogram CNN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102352" y="24323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ResNet-based 2D CNN on log-mel spectrogram. Captures spectral energy distribution over time — key indicator of reduced vocal control.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645152" y="2999232"/>
            <a:ext cx="4160520" cy="841248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45152" y="2999232"/>
            <a:ext cx="38404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45152" y="2999232"/>
            <a:ext cx="3840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5102352" y="309067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MFCC + Derivatives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102352" y="338328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13–40 Mel-Frequency Cepstral Coefficients + 1st/2nd delta features. Statistical descriptors per frame summarize timbre &amp; resonance.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645152" y="3950208"/>
            <a:ext cx="416052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45152" y="3950208"/>
            <a:ext cx="384048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45152" y="3950208"/>
            <a:ext cx="3840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5102352" y="404164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Praat Acoustic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5102352" y="433425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Jitter (freq variability), Shimmer (amplitude), HNR, NHR, DUV — clinically established dysarthria and hypophonia markers.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553712" y="4791456"/>
            <a:ext cx="4334256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99432" y="4800600"/>
            <a:ext cx="42428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XLS-R + cross-attention fusion outperforms single-pathway speech models by a wide margin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384048" cy="3840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914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2A6F"/>
                </a:solidFill>
              </a:rPr>
              <a:t>MODULE C  —  Cross-Modal Attention Fusion Network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2743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CMAFN Fusion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223760" y="73152"/>
            <a:ext cx="914400" cy="47548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91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96.94%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0" y="3291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BEAFE"/>
                </a:solidFill>
              </a:rPr>
              <a:t>Accuracy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74736" y="73152"/>
            <a:ext cx="7498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4736" y="914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0.9995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74736" y="32918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FBF1"/>
                </a:solidFill>
              </a:rPr>
              <a:t>AUC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749808"/>
            <a:ext cx="4663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749808"/>
            <a:ext cx="4663440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76809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CMAFN ARCHITECTURE  —  Fig. 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960120"/>
            <a:ext cx="1828800" cy="384048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978408"/>
            <a:ext cx="17190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6F"/>
                </a:solidFill>
              </a:rPr>
              <a:t>Handwriting Encoder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" y="1152144"/>
            <a:ext cx="1719072" cy="1689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</a:rPr>
              <a:t>(EfficientNet-B4)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880360" y="960120"/>
            <a:ext cx="1828800" cy="384048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978408"/>
            <a:ext cx="17190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Speech Encoder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35224" y="1152144"/>
            <a:ext cx="1719072" cy="1689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</a:rPr>
              <a:t>(XLS-R  300M)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417320" y="1344168"/>
            <a:ext cx="914" cy="210312"/>
          </a:xfrm>
          <a:prstGeom prst="line">
            <a:avLst/>
          </a:prstGeom>
          <a:noFill/>
          <a:ln w="1778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94760" y="1344168"/>
            <a:ext cx="914" cy="210312"/>
          </a:xfrm>
          <a:prstGeom prst="line">
            <a:avLst/>
          </a:prstGeom>
          <a:noFill/>
          <a:ln w="1778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7220" y="1563624"/>
            <a:ext cx="1600200" cy="347472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" y="1581912"/>
            <a:ext cx="14904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6F"/>
                </a:solidFill>
              </a:rPr>
              <a:t>Projection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" y="1737360"/>
            <a:ext cx="1490472" cy="15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</a:rPr>
              <a:t>512 → 256-d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994660" y="1563624"/>
            <a:ext cx="1600200" cy="347472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49524" y="1581912"/>
            <a:ext cx="14904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Projection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49524" y="1737360"/>
            <a:ext cx="1490472" cy="15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55555"/>
                </a:solidFill>
              </a:rPr>
              <a:t>960 → 256-d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21992" y="1737360"/>
            <a:ext cx="76809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1417320" y="1911096"/>
            <a:ext cx="914" cy="265176"/>
          </a:xfrm>
          <a:prstGeom prst="line">
            <a:avLst/>
          </a:prstGeom>
          <a:noFill/>
          <a:ln w="1778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94760" y="1911096"/>
            <a:ext cx="914" cy="265176"/>
          </a:xfrm>
          <a:prstGeom prst="line">
            <a:avLst/>
          </a:prstGeom>
          <a:noFill/>
          <a:ln w="1778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71500" y="2185416"/>
            <a:ext cx="1691640" cy="310896"/>
          </a:xfrm>
          <a:prstGeom prst="rect">
            <a:avLst/>
          </a:prstGeom>
          <a:solidFill>
            <a:srgbClr val="EEF4FF"/>
          </a:solidFill>
          <a:ln w="19050">
            <a:solidFill>
              <a:srgbClr val="0B2A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" y="22037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A6F"/>
                </a:solidFill>
              </a:rPr>
              <a:t>HW Cross-Attention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03220" y="2185416"/>
            <a:ext cx="1783080" cy="310896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58084" y="2203704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Speech Cross-Attention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67712" y="2231136"/>
            <a:ext cx="658368" cy="21945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67712" y="2286000"/>
            <a:ext cx="658368" cy="0"/>
          </a:xfrm>
          <a:prstGeom prst="line">
            <a:avLst/>
          </a:prstGeom>
          <a:noFill/>
          <a:ln w="1905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267712" y="2359152"/>
            <a:ext cx="65836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headEnd type="triangl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2258568" y="2459736"/>
            <a:ext cx="6949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55555"/>
                </a:solidFill>
              </a:rPr>
              <a:t>Bidirectional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417320" y="2496312"/>
            <a:ext cx="914" cy="146304"/>
          </a:xfrm>
          <a:prstGeom prst="line">
            <a:avLst/>
          </a:prstGeom>
          <a:noFill/>
          <a:ln w="17780">
            <a:solidFill>
              <a:srgbClr val="0B2A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4760" y="2496312"/>
            <a:ext cx="914" cy="146304"/>
          </a:xfrm>
          <a:prstGeom prst="line">
            <a:avLst/>
          </a:prstGeom>
          <a:noFill/>
          <a:ln w="1778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17320" y="2642616"/>
            <a:ext cx="1188720" cy="0"/>
          </a:xfrm>
          <a:prstGeom prst="line">
            <a:avLst/>
          </a:prstGeom>
          <a:noFill/>
          <a:ln w="17780">
            <a:solidFill>
              <a:srgbClr val="0B2A6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2642616"/>
            <a:ext cx="1188720" cy="0"/>
          </a:xfrm>
          <a:prstGeom prst="line">
            <a:avLst/>
          </a:prstGeom>
          <a:noFill/>
          <a:ln w="1778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06040" y="2642616"/>
            <a:ext cx="914" cy="82296"/>
          </a:xfrm>
          <a:prstGeom prst="line">
            <a:avLst/>
          </a:prstGeom>
          <a:noFill/>
          <a:ln w="1778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581912" y="2724912"/>
            <a:ext cx="2048256" cy="420624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55064" y="272491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</a:rPr>
              <a:t>Gated Multimodal Unit  (GMU)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655064" y="2962656"/>
            <a:ext cx="1901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B45309"/>
                </a:solidFill>
              </a:rPr>
              <a:t>Learnable sigmoid gate balances HW + Speech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606040" y="3145536"/>
            <a:ext cx="914" cy="201168"/>
          </a:xfrm>
          <a:prstGeom prst="line">
            <a:avLst/>
          </a:prstGeom>
          <a:noFill/>
          <a:ln w="17780">
            <a:solidFill>
              <a:srgbClr val="92400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581912" y="3346704"/>
            <a:ext cx="2048256" cy="384048"/>
          </a:xfrm>
          <a:prstGeom prst="rect">
            <a:avLst/>
          </a:prstGeom>
          <a:solidFill>
            <a:srgbClr val="F5F5F5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55064" y="334670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Concatenate  +  FC Layer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06040" y="3730752"/>
            <a:ext cx="914" cy="182880"/>
          </a:xfrm>
          <a:prstGeom prst="line">
            <a:avLst/>
          </a:prstGeom>
          <a:noFill/>
          <a:ln w="17780">
            <a:solidFill>
              <a:srgbClr val="0B2A6F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527048" y="3913632"/>
            <a:ext cx="2157984" cy="457200"/>
          </a:xfrm>
          <a:prstGeom prst="rect">
            <a:avLst/>
          </a:prstGeom>
          <a:solidFill>
            <a:srgbClr val="0B2A6F"/>
          </a:solidFill>
          <a:ln w="25400">
            <a:solidFill>
              <a:srgbClr val="0B2A6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27048" y="39136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96.94%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2715768" y="3913632"/>
            <a:ext cx="969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</a:rPr>
              <a:t>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</a:rPr>
              <a:t>0.9995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47472" y="4443984"/>
            <a:ext cx="4498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Bidirectional HW ↔ Speech cross-attention + gating = best overall PD screening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47488" y="749808"/>
            <a:ext cx="3840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47488" y="749808"/>
            <a:ext cx="38404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38928" y="7680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DESIGN DECISIONS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138928" y="1097280"/>
            <a:ext cx="365760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38928" y="1097280"/>
            <a:ext cx="365760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38928" y="1097280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577840" y="1188720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6F"/>
                </a:solidFill>
              </a:rPr>
              <a:t>Bidirectional Cross-Attention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5577840" y="1481328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HW attends to Speech and Speech attends to HW — each modality guides the other's feature selection via Transformer multi-head attention.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138928" y="2048256"/>
            <a:ext cx="3657600" cy="84124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38928" y="2048256"/>
            <a:ext cx="36576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38928" y="2048256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5577840" y="213969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Gated Multimodal Unit (GMU)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5577840" y="2432304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Learnable sigmoid gate dynamically balances HW and Speech embedding contributions — prevents one modality from dominating.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138928" y="2999232"/>
            <a:ext cx="3657600" cy="841248"/>
          </a:xfrm>
          <a:prstGeom prst="rect">
            <a:avLst/>
          </a:prstGeom>
          <a:solidFill>
            <a:srgbClr val="EEF4F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38928" y="2999232"/>
            <a:ext cx="365760" cy="84124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38928" y="2999232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577840" y="3090672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6F"/>
                </a:solidFill>
              </a:rPr>
              <a:t>Modality Dropout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5577840" y="3383280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Each modality randomly masked (p=0.2) during training — model stays robust even when one input is missing at inference time.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138928" y="3950208"/>
            <a:ext cx="3657600" cy="841248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38928" y="3950208"/>
            <a:ext cx="36576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38928" y="3950208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5577840" y="4041648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MC Dropout (Uncertainty)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5577840" y="4334256"/>
            <a:ext cx="3145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Monte Carlo Dropout at inference gives calibrated confidence scores for clinical decision support &amp; uncertain cases.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047488" y="4791456"/>
            <a:ext cx="3840480" cy="16459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93208" y="4800600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BEAFE"/>
                </a:solidFill>
              </a:rPr>
              <a:t>+3.37% gain over best unimodal — complementary biomarkers + attention fusion wins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Training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777240"/>
            <a:ext cx="4160520" cy="2743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0467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DATASETS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1143000"/>
            <a:ext cx="4160520" cy="138988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143000"/>
            <a:ext cx="4160520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Handwriting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472184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3,264 images  •  1,632 HC + 1,632 PD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Spiral &amp; Wave drawings (balanced classes)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Input: 224×224 (HW module), 336×336 (fusion)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16 spatial biomarkers extracted via OpenCV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715768"/>
            <a:ext cx="4160520" cy="1389888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2715768"/>
            <a:ext cx="41605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73405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Speech Dataset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044952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Italian Parkinson's Voice &amp; Speech (IEEE DataPort)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831 recordings  •  61 unique patients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Patient-level group splits to avoid speaker leakage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Standardized to 16 kHz, padded/trimmed to &lt;8s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777240"/>
            <a:ext cx="41788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80467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TRAINING STRATEGY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90872" y="1143000"/>
            <a:ext cx="4178808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1143000"/>
            <a:ext cx="54864" cy="8046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2161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6F"/>
                </a:solidFill>
              </a:rPr>
              <a:t>Optimizer &amp; Schedule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14721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AdamW (LR: 3e-5 to 5e-5)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OneCycleLR cosine annealing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Gradient clipping (max norm 1.0)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Early stopping (patience 10–12)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2057400"/>
            <a:ext cx="4178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0872" y="205740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1305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Loss &amp; Regularization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23865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Focal Loss (α=0.5–0.75, γ=2.0–3.0)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Label smoothing for calibration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Modality dropout (fusion robustness)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90872" y="2971800"/>
            <a:ext cx="4178808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0872" y="2971800"/>
            <a:ext cx="54864" cy="8046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0449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6F"/>
                </a:solidFill>
              </a:rPr>
              <a:t>Data Augmentation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33009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Images: flip, rotation ±10°, brightness jitter, Mixup, TTA (7 transforms)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Audio: SpecAugment, VTLP, TTA (5×)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3886200"/>
            <a:ext cx="41788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0872" y="388620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9593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Classical ML Stack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42153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RF, SVM, GBM, XGBoost, LightGBM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SMOTE oversampling  •  PCA (99.5–99.9%)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Meta-learner: Ridge LR stacking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749808"/>
            <a:ext cx="8577072" cy="310896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768096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Fusion (CMAFN) achieves 96.94% accuracy &amp; 0.9995 AUC-ROC — Patient-level stratified 5-fold CV (no data leakage)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2788920" cy="1554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170432"/>
            <a:ext cx="2788920" cy="457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24358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6F"/>
                </a:solidFill>
              </a:rPr>
              <a:t>Module A — Handwriting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46304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6F"/>
                </a:solidFill>
              </a:rPr>
              <a:t>93.57%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02336" y="197510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AUC  0.985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22311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MLP (16 biomarkers) + EfficientNet-B0 (CBAM)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Logistic Regression meta-learner stacking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170432"/>
            <a:ext cx="2788920" cy="155448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70432"/>
            <a:ext cx="2788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24358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Module B — Speech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46304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</a:rPr>
              <a:t>91.70%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0128" y="197510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AUC  0.971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2311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XLS-R BiLSTM + Mel CNN + MFCC + Praat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Multi-head cross-attention + Ridge LR stacking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08192" y="1170432"/>
            <a:ext cx="2788920" cy="155448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1170432"/>
            <a:ext cx="2788920" cy="457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24358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C — CMAFN Fusion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46304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96.94%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197510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</a:rPr>
              <a:t>AUC  0.9995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2311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Bidirectional cross-attention + GMU gating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+3.37% over best unimodal (handwriting)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2816352"/>
            <a:ext cx="4160520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83464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CMAFN — 5-Fold Balanced Accuracy Stability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3127248"/>
            <a:ext cx="694944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136392"/>
            <a:ext cx="6949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048" y="3273552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99.10%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70432" y="3127248"/>
            <a:ext cx="694944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3136392"/>
            <a:ext cx="6949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70432" y="3273552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96.40%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56816" y="3127248"/>
            <a:ext cx="694944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56816" y="3136392"/>
            <a:ext cx="6949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956816" y="3273552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99.46%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0" y="3127248"/>
            <a:ext cx="694944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3136392"/>
            <a:ext cx="6949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743200" y="3273552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99.82%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29584" y="3127248"/>
            <a:ext cx="694944" cy="34747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9584" y="3136392"/>
            <a:ext cx="6949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3C5FD"/>
                </a:solidFill>
              </a:rPr>
              <a:t>Fold 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529584" y="3273552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99.82%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" y="354787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Mean ± Std: 98.92% ± 1.29%  (Balanced Accuracy across folds)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4048" y="3785616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High fold consistency validates generalization under patient-level grouping.</a:t>
            </a:r>
            <a:endParaRPr lang="en-US" sz="900" dirty="0"/>
          </a:p>
        </p:txBody>
      </p:sp>
      <p:graphicFrame>
        <p:nvGraphicFramePr>
          <p:cNvPr id="43" name="Chart 0"/>
          <p:cNvGraphicFramePr/>
          <p:nvPr>
            <p:extLst>
              <p:ext uri="{D42A27DB-BD31-4B8C-83A1-F6EECF244321}">
                <p14:modId xmlns:p14="http://schemas.microsoft.com/office/powerpoint/2010/main" val="2678666725"/>
              </p:ext>
            </p:extLst>
          </p:nvPr>
        </p:nvGraphicFramePr>
        <p:xfrm>
          <a:off x="4617720" y="2743200"/>
          <a:ext cx="4206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" name="Text 41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804672"/>
            <a:ext cx="8577072" cy="877824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502920" cy="87782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789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914400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6F"/>
                </a:solidFill>
              </a:rPr>
              <a:t>16-Feature Handwriting Biomarker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207008"/>
            <a:ext cx="7818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Extracts clinically relevant spatial cues from spiral/wave drawings: stroke variability, roughness, entropy, fractal dimension, Hu moments, curvature, component density — providing interpretable motor impairment signals.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792224"/>
            <a:ext cx="8577072" cy="877824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792224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06654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901952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Hybrid Speech Pipeline (DL + Classical ML)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194560"/>
            <a:ext cx="7818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Combines self-supervised XLS-R representations with Mel-spectrogram CNN, MFCC, and Praat acoustic measures. Fused via multi-head cross-attention and stacked with Ridge Logistic Regression.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779776"/>
            <a:ext cx="8577072" cy="877824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779776"/>
            <a:ext cx="502920" cy="877824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05409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2889504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6F"/>
                </a:solidFill>
              </a:rPr>
              <a:t>Cross-Modal Attention Fusion Network (CMAFN)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182112"/>
            <a:ext cx="7818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Novel bidirectional Transformer cross-attention (HW↔Speech) + Gated Multimodal Unit (GMU) + modality dropout. Learns complementary motor + vocal biomarker interactions for improved PD screening.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3767328"/>
            <a:ext cx="8577072" cy="877824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767328"/>
            <a:ext cx="50292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404164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3877056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Deployable End-to-End Web Application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169664"/>
            <a:ext cx="7818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Flask-based real-time screening web app with interactive handwriting and audio inputs. CPU-friendly (&lt;3s inference, ~85 MB INT8 quantized model). Patient-level stratified CV — no data leakage.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749808"/>
            <a:ext cx="2788920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49808"/>
            <a:ext cx="2788920" cy="36576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A6F"/>
                </a:solidFill>
              </a:rPr>
              <a:t>93.57%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Handwriting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(AUC 0.985)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749808"/>
            <a:ext cx="2788920" cy="749808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749808"/>
            <a:ext cx="2788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046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91.70%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Speech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(AUC 0.971)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08192" y="749808"/>
            <a:ext cx="278892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8192" y="749808"/>
            <a:ext cx="2788920" cy="36576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8046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96.94%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99632" y="1188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</a:rPr>
              <a:t>CMAFN Fusion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</a:rPr>
              <a:t>(AUC 0.9995)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1609344"/>
            <a:ext cx="8577072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1609344"/>
            <a:ext cx="64008" cy="65836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6824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Multimodal AI improves screening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19568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Fusing handwriting and speech via CMAFN yields 96.94% accuracy and 0.9995 AUC-ROC — outperforming both unimodal modules and demonstrating that complementary biomarkers strengthen detection.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2377440"/>
            <a:ext cx="85770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37744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45059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Complementary biomarkers work synergistically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27249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Handwriting captures fine motor impairment (micrographia, tremor cues), while speech captures voice quality degradation (jitter, shimmer, dysarthria). Together they provide richer diagnostic signals than either alone.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3145536"/>
            <a:ext cx="8577072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3145536"/>
            <a:ext cx="64008" cy="65836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1868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6F"/>
                </a:solidFill>
              </a:rPr>
              <a:t>CMAFN enables SOTA multimodal fusion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" y="34930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Transformer-based bidirectional cross-attention explicitly models how handwriting and speech features inform each other. GMU gating prevents one modality from dominating, improving over late/early fusion baselines.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2608" y="3913632"/>
            <a:ext cx="85770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391363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98678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Practical for clinical and remote workflows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" y="42611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Non-invasive inputs (spiral drawings + short audio) via consumer hardware. Real-time Flask web app with &lt;3s CPU inference. Patient-level stratified 5-fold CV ensures clinically valid performance estimates.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804672"/>
            <a:ext cx="2788920" cy="192024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278892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412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Extend Biomarkers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Add gait analysis (IMU sensors), wearable data, and eye-tracking signals as additional non-invasive modalities to further improve screening coverage.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788920" cy="1920240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04672"/>
            <a:ext cx="2788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412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Longitudinal Monitoring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Track disease progression over time and support staging beyond binary PD/HC classification — enable early-warning trending using repeated measures.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08192" y="804672"/>
            <a:ext cx="2788920" cy="192024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8192" y="804672"/>
            <a:ext cx="278892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8412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Federated Learning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1188720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Multi-center training while keeping patient data local — supports collaboration across hospitals without sharing raw data, enhancing privacy.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2889504"/>
            <a:ext cx="2788920" cy="1920240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889504"/>
            <a:ext cx="2788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2608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Explainable AI (XAI)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273552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Integrate attention map visualization and Grad-CAM for clinician trust. Highlight which handwriting/speech features drive predictions.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9504"/>
            <a:ext cx="2788920" cy="192024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889504"/>
            <a:ext cx="2788920" cy="2926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2608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Mobile Deployment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273552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TFLite optimization for on-device real-time screening. Enable low-latency offline inference on mobile devices in remote/rural settings.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08192" y="2889504"/>
            <a:ext cx="2788920" cy="1920240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2889504"/>
            <a:ext cx="2788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92608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Multilingual Speech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3273552"/>
            <a:ext cx="2606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Evaluate cross-language generalization beyond Italian dataset. Improve robustness for broader demographic applicability worldwide.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804672"/>
            <a:ext cx="8577072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41148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241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[1]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19872" y="932688"/>
            <a:ext cx="713232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19872" y="93268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Handwriting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4672" y="877824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6F"/>
                </a:solidFill>
              </a:rPr>
              <a:t>Pereira et al., 2018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11556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"Handwriting dynamics assessment for early identification of Parkinson's disease," Artificial Intelligence in Medicine, 2018.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1645920"/>
            <a:ext cx="8577072" cy="749808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645920"/>
            <a:ext cx="411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865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[2]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9872" y="1773936"/>
            <a:ext cx="7132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177393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Transfer Learning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4672" y="1719072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Diaz et al., 2021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1956816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"A transfer learning approach with MobileNetV2 for Parkinson's disease detection using hand drawings," Expert Systems with Applications, 2021.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2487168"/>
            <a:ext cx="8577072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487168"/>
            <a:ext cx="41148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70662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[3]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19872" y="2615184"/>
            <a:ext cx="713232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9872" y="261518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Self-supervised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" y="256032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6F"/>
                </a:solidFill>
              </a:rPr>
              <a:t>Baevski et al., 2020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279806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"wav2vec 2.0: A framework for self-supervised learning of speech representations," NeurIPS, 2020.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" y="3328416"/>
            <a:ext cx="8577072" cy="749808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3328416"/>
            <a:ext cx="411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54787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[4]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19872" y="3456432"/>
            <a:ext cx="7132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9872" y="345643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XLS-R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" y="34015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Conneau et al., 2021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363931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"Unsupervised cross-lingual representation learning for speech recognition," INTERSPEECH, 2021. (XLS-R)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" y="4169664"/>
            <a:ext cx="8577072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4169664"/>
            <a:ext cx="41148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43891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[5]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19872" y="4297680"/>
            <a:ext cx="713232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429768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Augmentation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4672" y="4242816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6F"/>
                </a:solidFill>
              </a:rPr>
              <a:t>Park et al., 2019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448056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"SpecAugment: A simple data augmentation method for automatic speech recognition," INTERSPEECH, 2019.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" y="5029200"/>
            <a:ext cx="8577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Full bibliography available in the IEEE paper. Titles and venues shown for quick attribution during presentation.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699AB-5F25-3B4D-C1FA-2FFE58A7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EC878A-0C43-005A-0E9D-7ED298271D97}"/>
              </a:ext>
            </a:extLst>
          </p:cNvPr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3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619548-EBA7-DE2E-8857-BEE70ABDD5A2}"/>
              </a:ext>
            </a:extLst>
          </p:cNvPr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82D394-FA1E-572D-55E7-36AFF2AA54E9}"/>
              </a:ext>
            </a:extLst>
          </p:cNvPr>
          <p:cNvSpPr/>
          <p:nvPr/>
        </p:nvSpPr>
        <p:spPr>
          <a:xfrm>
            <a:off x="292608" y="804672"/>
            <a:ext cx="8577072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0C7F0B-D579-BACC-A3F3-A3EBE191B3CA}"/>
              </a:ext>
            </a:extLst>
          </p:cNvPr>
          <p:cNvSpPr/>
          <p:nvPr/>
        </p:nvSpPr>
        <p:spPr>
          <a:xfrm>
            <a:off x="292608" y="804672"/>
            <a:ext cx="41148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E6EF8E-D2FE-E2B0-C3BF-480521A88AA7}"/>
              </a:ext>
            </a:extLst>
          </p:cNvPr>
          <p:cNvSpPr/>
          <p:nvPr/>
        </p:nvSpPr>
        <p:spPr>
          <a:xfrm>
            <a:off x="292608" y="10241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[6]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B6F7B6-726A-71CF-C617-AA0488A9A62A}"/>
              </a:ext>
            </a:extLst>
          </p:cNvPr>
          <p:cNvSpPr/>
          <p:nvPr/>
        </p:nvSpPr>
        <p:spPr>
          <a:xfrm>
            <a:off x="8119872" y="932688"/>
            <a:ext cx="713232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0775719-76D1-6534-F88F-658A84592836}"/>
              </a:ext>
            </a:extLst>
          </p:cNvPr>
          <p:cNvSpPr/>
          <p:nvPr/>
        </p:nvSpPr>
        <p:spPr>
          <a:xfrm>
            <a:off x="8119872" y="93268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b="1" dirty="0">
                <a:solidFill>
                  <a:schemeClr val="bg1"/>
                </a:solidFill>
              </a:rPr>
              <a:t>Transfer Learning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310E7E-404C-E3C6-F622-90D4E0516B1C}"/>
              </a:ext>
            </a:extLst>
          </p:cNvPr>
          <p:cNvSpPr/>
          <p:nvPr/>
        </p:nvSpPr>
        <p:spPr>
          <a:xfrm>
            <a:off x="804672" y="877824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rgbClr val="002060"/>
                </a:solidFill>
              </a:rPr>
              <a:t>Chen et al., 2023</a:t>
            </a:r>
            <a:endParaRPr lang="en-US" sz="1100" b="1" dirty="0">
              <a:solidFill>
                <a:srgbClr val="002060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7D9B3C-5728-8A68-086D-70296EF90E26}"/>
              </a:ext>
            </a:extLst>
          </p:cNvPr>
          <p:cNvSpPr/>
          <p:nvPr/>
        </p:nvSpPr>
        <p:spPr>
          <a:xfrm>
            <a:off x="804672" y="111556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/>
              <a:t>"Automated Parkinson’s disease detection using deep transfer learning on spiral drawings,"</a:t>
            </a:r>
            <a:r>
              <a:rPr lang="en-US" sz="1000" dirty="0"/>
              <a:t> Biomedical Signal Processing and Control, 2023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D01A4D4-DFB2-AFAC-D787-0F3455BB1797}"/>
              </a:ext>
            </a:extLst>
          </p:cNvPr>
          <p:cNvSpPr/>
          <p:nvPr/>
        </p:nvSpPr>
        <p:spPr>
          <a:xfrm>
            <a:off x="292608" y="1645920"/>
            <a:ext cx="8577072" cy="749808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8E68737-CDB2-F6A0-0D8F-FF7E7A62F742}"/>
              </a:ext>
            </a:extLst>
          </p:cNvPr>
          <p:cNvSpPr/>
          <p:nvPr/>
        </p:nvSpPr>
        <p:spPr>
          <a:xfrm>
            <a:off x="292608" y="1645920"/>
            <a:ext cx="411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931062-0040-49F5-DA6C-62096284F0FF}"/>
              </a:ext>
            </a:extLst>
          </p:cNvPr>
          <p:cNvSpPr/>
          <p:nvPr/>
        </p:nvSpPr>
        <p:spPr>
          <a:xfrm>
            <a:off x="292608" y="1865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[7]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21EE39B-FC0B-10F3-3C78-0FEBF867E7D7}"/>
              </a:ext>
            </a:extLst>
          </p:cNvPr>
          <p:cNvSpPr/>
          <p:nvPr/>
        </p:nvSpPr>
        <p:spPr>
          <a:xfrm>
            <a:off x="8119872" y="1773936"/>
            <a:ext cx="7132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505243-1A45-2A0F-D5B0-23580D5E366B}"/>
              </a:ext>
            </a:extLst>
          </p:cNvPr>
          <p:cNvSpPr/>
          <p:nvPr/>
        </p:nvSpPr>
        <p:spPr>
          <a:xfrm>
            <a:off x="8119872" y="177393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dirty="0">
                <a:solidFill>
                  <a:schemeClr val="bg1"/>
                </a:solidFill>
              </a:rPr>
              <a:t>Attention CNN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34A1F7F-A3D8-E25C-D92F-52CECC631234}"/>
              </a:ext>
            </a:extLst>
          </p:cNvPr>
          <p:cNvSpPr/>
          <p:nvPr/>
        </p:nvSpPr>
        <p:spPr>
          <a:xfrm>
            <a:off x="804672" y="1719072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rgbClr val="00B050"/>
                </a:solidFill>
              </a:rPr>
              <a:t>Kumar et al., 2024</a:t>
            </a:r>
            <a:endParaRPr lang="en-US" sz="1100" b="1" dirty="0">
              <a:solidFill>
                <a:srgbClr val="00B050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2D11A57-8799-153B-BAB7-CA82100E5D5C}"/>
              </a:ext>
            </a:extLst>
          </p:cNvPr>
          <p:cNvSpPr/>
          <p:nvPr/>
        </p:nvSpPr>
        <p:spPr>
          <a:xfrm>
            <a:off x="804672" y="1956816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/>
              <a:t>"Attention-based convolutional neural networks for Parkinson’s disease detection using handwriting analysis,"</a:t>
            </a:r>
            <a:r>
              <a:rPr lang="en-US" sz="1000" dirty="0"/>
              <a:t> IEEE Access, 2024.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D32CA1C-FD79-9DFD-F1CF-4A221BDCC432}"/>
              </a:ext>
            </a:extLst>
          </p:cNvPr>
          <p:cNvSpPr/>
          <p:nvPr/>
        </p:nvSpPr>
        <p:spPr>
          <a:xfrm>
            <a:off x="292608" y="2487168"/>
            <a:ext cx="8577072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7D1BCE9-2074-959B-F8FE-84E1F0B632B1}"/>
              </a:ext>
            </a:extLst>
          </p:cNvPr>
          <p:cNvSpPr/>
          <p:nvPr/>
        </p:nvSpPr>
        <p:spPr>
          <a:xfrm>
            <a:off x="292608" y="2487168"/>
            <a:ext cx="41148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13F06D9-253F-8AB0-0824-BDC318E00FFC}"/>
              </a:ext>
            </a:extLst>
          </p:cNvPr>
          <p:cNvSpPr/>
          <p:nvPr/>
        </p:nvSpPr>
        <p:spPr>
          <a:xfrm>
            <a:off x="292608" y="270662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[8]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669F653-73CD-852D-7EB4-F66C681D614B}"/>
              </a:ext>
            </a:extLst>
          </p:cNvPr>
          <p:cNvSpPr/>
          <p:nvPr/>
        </p:nvSpPr>
        <p:spPr>
          <a:xfrm>
            <a:off x="8119872" y="2615184"/>
            <a:ext cx="713232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D167B6A-9078-D443-945A-0AA14FF448F3}"/>
              </a:ext>
            </a:extLst>
          </p:cNvPr>
          <p:cNvSpPr/>
          <p:nvPr/>
        </p:nvSpPr>
        <p:spPr>
          <a:xfrm>
            <a:off x="8119872" y="261518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b="1" dirty="0">
                <a:solidFill>
                  <a:schemeClr val="bg1"/>
                </a:solidFill>
              </a:rPr>
              <a:t>MFCC + DL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9D90910-2FDF-F3E8-6969-08AF995FF736}"/>
              </a:ext>
            </a:extLst>
          </p:cNvPr>
          <p:cNvSpPr/>
          <p:nvPr/>
        </p:nvSpPr>
        <p:spPr>
          <a:xfrm>
            <a:off x="804672" y="256032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rgbClr val="002060"/>
                </a:solidFill>
              </a:rPr>
              <a:t>Ravi et al., 2024</a:t>
            </a:r>
            <a:endParaRPr lang="en-US" sz="1100" b="1" dirty="0">
              <a:solidFill>
                <a:srgbClr val="002060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AA8155D-7C18-75C5-F0A0-E662C04BBFAE}"/>
              </a:ext>
            </a:extLst>
          </p:cNvPr>
          <p:cNvSpPr/>
          <p:nvPr/>
        </p:nvSpPr>
        <p:spPr>
          <a:xfrm>
            <a:off x="804672" y="279806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/>
              <a:t>"Parkinson’s disease detection from voice signals using deep learning and MFCC features,"</a:t>
            </a:r>
            <a:r>
              <a:rPr lang="en-US" sz="1000" dirty="0"/>
              <a:t> Computers in Biology and Medicine, 2024.</a:t>
            </a:r>
            <a:endParaRPr lang="en-US" sz="9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CDEF638-BBE1-7547-8609-BB944D91C528}"/>
              </a:ext>
            </a:extLst>
          </p:cNvPr>
          <p:cNvSpPr/>
          <p:nvPr/>
        </p:nvSpPr>
        <p:spPr>
          <a:xfrm>
            <a:off x="292608" y="3328416"/>
            <a:ext cx="8577072" cy="749808"/>
          </a:xfrm>
          <a:prstGeom prst="rect">
            <a:avLst/>
          </a:prstGeom>
          <a:solidFill>
            <a:srgbClr val="E6F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2C0543B-A2F6-25A0-9752-899531FDFF2F}"/>
              </a:ext>
            </a:extLst>
          </p:cNvPr>
          <p:cNvSpPr/>
          <p:nvPr/>
        </p:nvSpPr>
        <p:spPr>
          <a:xfrm>
            <a:off x="292608" y="3328416"/>
            <a:ext cx="411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89B1337-47F9-9E20-5A82-54D5E8AC370B}"/>
              </a:ext>
            </a:extLst>
          </p:cNvPr>
          <p:cNvSpPr/>
          <p:nvPr/>
        </p:nvSpPr>
        <p:spPr>
          <a:xfrm>
            <a:off x="292608" y="354787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[9]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85EC06F-C0E5-42EE-DEDC-0DCBFB6FF9D6}"/>
              </a:ext>
            </a:extLst>
          </p:cNvPr>
          <p:cNvSpPr/>
          <p:nvPr/>
        </p:nvSpPr>
        <p:spPr>
          <a:xfrm>
            <a:off x="8119872" y="3456432"/>
            <a:ext cx="7132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9F9B840-FE6D-B244-EF15-10E1AECD37DA}"/>
              </a:ext>
            </a:extLst>
          </p:cNvPr>
          <p:cNvSpPr/>
          <p:nvPr/>
        </p:nvSpPr>
        <p:spPr>
          <a:xfrm>
            <a:off x="8119872" y="345643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b="1" dirty="0">
                <a:solidFill>
                  <a:schemeClr val="bg1"/>
                </a:solidFill>
              </a:rPr>
              <a:t>Transformer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7F8DB53-1382-3BEE-4DC9-099C226C4AB1}"/>
              </a:ext>
            </a:extLst>
          </p:cNvPr>
          <p:cNvSpPr/>
          <p:nvPr/>
        </p:nvSpPr>
        <p:spPr>
          <a:xfrm>
            <a:off x="804672" y="340156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rgbClr val="00B050"/>
                </a:solidFill>
              </a:rPr>
              <a:t>Zhang et al., 2023</a:t>
            </a:r>
            <a:endParaRPr lang="en-US" sz="1100" b="1" dirty="0">
              <a:solidFill>
                <a:srgbClr val="00B050"/>
              </a:solidFill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0351975-FFA8-FB99-28B5-C60DC1E9E873}"/>
              </a:ext>
            </a:extLst>
          </p:cNvPr>
          <p:cNvSpPr/>
          <p:nvPr/>
        </p:nvSpPr>
        <p:spPr>
          <a:xfrm>
            <a:off x="804672" y="3639312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/>
              <a:t>"Transformer-based speech analysis for early detection of Parkinson’s disease,"</a:t>
            </a:r>
            <a:r>
              <a:rPr lang="en-US" sz="1000" dirty="0"/>
              <a:t> IEEE Journal of Biomedical and Health Informatics, 2023.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153933A-1F01-FFAE-7C26-D2807B34ED55}"/>
              </a:ext>
            </a:extLst>
          </p:cNvPr>
          <p:cNvSpPr/>
          <p:nvPr/>
        </p:nvSpPr>
        <p:spPr>
          <a:xfrm>
            <a:off x="292608" y="4169664"/>
            <a:ext cx="8577072" cy="74980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773A738-1F6F-D7C6-03F4-31E21093D41F}"/>
              </a:ext>
            </a:extLst>
          </p:cNvPr>
          <p:cNvSpPr/>
          <p:nvPr/>
        </p:nvSpPr>
        <p:spPr>
          <a:xfrm>
            <a:off x="292608" y="4169664"/>
            <a:ext cx="411480" cy="749808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4BA004F-351F-E4DE-8350-35C9AAA61FE0}"/>
              </a:ext>
            </a:extLst>
          </p:cNvPr>
          <p:cNvSpPr/>
          <p:nvPr/>
        </p:nvSpPr>
        <p:spPr>
          <a:xfrm>
            <a:off x="292608" y="438912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[10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096B4D1-C7B9-238D-5D5B-22CB5D21B752}"/>
              </a:ext>
            </a:extLst>
          </p:cNvPr>
          <p:cNvSpPr/>
          <p:nvPr/>
        </p:nvSpPr>
        <p:spPr>
          <a:xfrm>
            <a:off x="8119872" y="4297680"/>
            <a:ext cx="713232" cy="25603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E90B622-4305-4FA6-54A7-82942006FDE4}"/>
              </a:ext>
            </a:extLst>
          </p:cNvPr>
          <p:cNvSpPr/>
          <p:nvPr/>
        </p:nvSpPr>
        <p:spPr>
          <a:xfrm>
            <a:off x="8119872" y="429768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800" dirty="0">
                <a:solidFill>
                  <a:schemeClr val="bg1"/>
                </a:solidFill>
              </a:rPr>
              <a:t>Multi-Modal Fusion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4A43D44-9F09-B3CA-D54C-54C07C0E6262}"/>
              </a:ext>
            </a:extLst>
          </p:cNvPr>
          <p:cNvSpPr/>
          <p:nvPr/>
        </p:nvSpPr>
        <p:spPr>
          <a:xfrm>
            <a:off x="804672" y="4242816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Li et al., 2024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5A53EA3-EBE4-307A-FE45-F9750A7685A8}"/>
              </a:ext>
            </a:extLst>
          </p:cNvPr>
          <p:cNvSpPr/>
          <p:nvPr/>
        </p:nvSpPr>
        <p:spPr>
          <a:xfrm>
            <a:off x="804672" y="448056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/>
              <a:t>"Multimodal deep learning framework for Parkinson’s disease detection using speech and handwriting,"</a:t>
            </a:r>
            <a:r>
              <a:rPr lang="en-US" sz="1000" dirty="0"/>
              <a:t> Information Fusion, 2024.</a:t>
            </a:r>
            <a:endParaRPr lang="en-US" sz="9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9882D62-93C3-6497-28BD-C3A6823C604B}"/>
              </a:ext>
            </a:extLst>
          </p:cNvPr>
          <p:cNvSpPr/>
          <p:nvPr/>
        </p:nvSpPr>
        <p:spPr>
          <a:xfrm>
            <a:off x="292608" y="5029200"/>
            <a:ext cx="85770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</a:rPr>
              <a:t>Full bibliography available in the IEEE paper. Titles and venues shown for quick attribution during presentation.</a:t>
            </a:r>
            <a:endParaRPr lang="en-US" sz="8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013B093-4F09-878B-B252-B8683AB2A104}"/>
              </a:ext>
            </a:extLst>
          </p:cNvPr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24453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t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"/>
            <a:ext cx="2743200" cy="1051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1261872"/>
            <a:ext cx="45720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33502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</a:rPr>
              <a:t>Questions? We're happy to discuss methodology, datasets, and deployment details.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2542032"/>
            <a:ext cx="1828800" cy="62179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96.94%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89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</a:rPr>
              <a:t>Fusion Accuracy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79192" y="2542032"/>
            <a:ext cx="18288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9192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0.9995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679192" y="2889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FBF1"/>
                </a:solidFill>
              </a:rPr>
              <a:t>AUC-ROC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72584" y="2542032"/>
            <a:ext cx="1828800" cy="621792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72584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5-fold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72584" y="2889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</a:rPr>
              <a:t>Patient-level CV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65976" y="2542032"/>
            <a:ext cx="18288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65976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&lt;3s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665976" y="2889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FBF1"/>
                </a:solidFill>
              </a:rPr>
              <a:t>Inference (CPU)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2608" y="3310128"/>
            <a:ext cx="2798064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2608" y="3310128"/>
            <a:ext cx="2798064" cy="457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" y="340156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Tanguturi Venkata Thanuj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22BCE20003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02336" y="3822192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venkata.22bce20003@vitapstudent.ac.in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36976" y="3310128"/>
            <a:ext cx="2798064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36976" y="3310128"/>
            <a:ext cx="27980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46704" y="340156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Katam Krishna Chaitanya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22BCE7359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346704" y="3822192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krishna.22bce7359@vitapstudent.ac.in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181344" y="3310128"/>
            <a:ext cx="2798064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81344" y="3310128"/>
            <a:ext cx="2798064" cy="45720"/>
          </a:xfrm>
          <a:prstGeom prst="rect">
            <a:avLst/>
          </a:prstGeom>
          <a:solidFill>
            <a:srgbClr val="0B2A6F"/>
          </a:solidFill>
          <a:ln w="12700">
            <a:solidFill>
              <a:srgbClr val="0B2A6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340156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Pathakuntla Narendar Reddy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</a:rPr>
              <a:t>22BCE7707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91072" y="3822192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narendar.22bce7707@vitapstudent.ac.in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44988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A6F"/>
                </a:solidFill>
              </a:rPr>
              <a:t>Guide: Dr. Rajasekhar Boddu — Asst. Professor, CSE, VIT-AP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D_Detection_Final  -  Repaired" id="{F7F0C60C-9A09-4C6D-9D3C-B2DBEC325D6E}" vid="{EBE4E679-54A8-4594-A384-2C8CE9BB59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PD_Detection_Finals</Template>
  <TotalTime>69</TotalTime>
  <Words>3061</Words>
  <Application>Microsoft Office PowerPoint</Application>
  <PresentationFormat>On-screen Show (16:9)</PresentationFormat>
  <Paragraphs>590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tanguturi venkata  thanuj</dc:creator>
  <cp:lastModifiedBy>tanguturi venkata  thanuj</cp:lastModifiedBy>
  <cp:revision>13</cp:revision>
  <dcterms:created xsi:type="dcterms:W3CDTF">2026-03-26T16:25:04Z</dcterms:created>
  <dcterms:modified xsi:type="dcterms:W3CDTF">2026-04-25T03:46:49Z</dcterms:modified>
</cp:coreProperties>
</file>